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0.svg" ContentType="image/svg+xml"/>
  <Override PartName="/ppt/media/image12.svg" ContentType="image/svg+xml"/>
  <Override PartName="/ppt/media/image14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79" r:id="rId9"/>
    <p:sldId id="261" r:id="rId10"/>
    <p:sldId id="262" r:id="rId11"/>
    <p:sldId id="293" r:id="rId12"/>
    <p:sldId id="294" r:id="rId13"/>
    <p:sldId id="296" r:id="rId14"/>
    <p:sldId id="295" r:id="rId15"/>
    <p:sldId id="266" r:id="rId16"/>
    <p:sldId id="269" r:id="rId17"/>
    <p:sldId id="267" r:id="rId18"/>
    <p:sldId id="268" r:id="rId19"/>
    <p:sldId id="270" r:id="rId20"/>
    <p:sldId id="271" r:id="rId21"/>
    <p:sldId id="272" r:id="rId22"/>
    <p:sldId id="273" r:id="rId23"/>
    <p:sldId id="274" r:id="rId24"/>
    <p:sldId id="276" r:id="rId25"/>
    <p:sldId id="277" r:id="rId26"/>
    <p:sldId id="278" r:id="rId27"/>
    <p:sldId id="28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65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984B19-32FE-4AFC-9379-25ECCC4A0A4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070EB14-B497-4857-8B76-BC582EB22793}">
      <dgm:prSet/>
      <dgm:spPr/>
      <dgm:t>
        <a:bodyPr/>
        <a:lstStyle/>
        <a:p>
          <a:r>
            <a:rPr lang="en-US"/>
            <a:t>Week 8: Alpha Phase acceptance; delivery of a demonstrable MVP (Minimum Viable Product)</a:t>
          </a:r>
        </a:p>
      </dgm:t>
    </dgm:pt>
    <dgm:pt modelId="{C90924AD-A8B3-47F3-BB4E-44E30A7AABBD}" cxnId="{152870B8-E7EF-4A8C-B1F3-9E19009AE551}" type="parTrans">
      <dgm:prSet/>
      <dgm:spPr/>
      <dgm:t>
        <a:bodyPr/>
        <a:lstStyle/>
        <a:p>
          <a:endParaRPr lang="en-US"/>
        </a:p>
      </dgm:t>
    </dgm:pt>
    <dgm:pt modelId="{1179EFAE-762C-4D8F-B2B1-8C2D2E8A0FAF}" cxnId="{152870B8-E7EF-4A8C-B1F3-9E19009AE551}" type="sibTrans">
      <dgm:prSet/>
      <dgm:spPr/>
      <dgm:t>
        <a:bodyPr/>
        <a:lstStyle/>
        <a:p>
          <a:endParaRPr lang="en-US"/>
        </a:p>
      </dgm:t>
    </dgm:pt>
    <dgm:pt modelId="{A9CB2A62-E485-4498-9B2E-F31A4DEC46AF}">
      <dgm:prSet/>
      <dgm:spPr/>
      <dgm:t>
        <a:bodyPr/>
        <a:lstStyle/>
        <a:p>
          <a:r>
            <a:rPr lang="en-US"/>
            <a:t>Week 12: Completion of Beta I Phase; full launch of 1st-tier functions</a:t>
          </a:r>
        </a:p>
      </dgm:t>
    </dgm:pt>
    <dgm:pt modelId="{84CDD30E-B3D9-48A4-B0A6-9123A3609E32}" cxnId="{41CE5474-BD63-450B-B4BF-18AB189FA92F}" type="parTrans">
      <dgm:prSet/>
      <dgm:spPr/>
      <dgm:t>
        <a:bodyPr/>
        <a:lstStyle/>
        <a:p>
          <a:endParaRPr lang="en-US"/>
        </a:p>
      </dgm:t>
    </dgm:pt>
    <dgm:pt modelId="{A5393392-298C-4DBF-8EFF-7614DD0A1548}" cxnId="{41CE5474-BD63-450B-B4BF-18AB189FA92F}" type="sibTrans">
      <dgm:prSet/>
      <dgm:spPr/>
      <dgm:t>
        <a:bodyPr/>
        <a:lstStyle/>
        <a:p>
          <a:endParaRPr lang="en-US"/>
        </a:p>
      </dgm:t>
    </dgm:pt>
    <dgm:pt modelId="{D80E0429-D065-4B69-BFD0-F4C527704FEE}">
      <dgm:prSet/>
      <dgm:spPr/>
      <dgm:t>
        <a:bodyPr/>
        <a:lstStyle/>
        <a:p>
          <a:r>
            <a:rPr lang="en-US"/>
            <a:t>Week 15: Conclusion of Beta II Phase; overall platform testing &amp; delivery</a:t>
          </a:r>
        </a:p>
      </dgm:t>
    </dgm:pt>
    <dgm:pt modelId="{FBAB61F9-12EE-46D5-B72D-40E9CD12CCB5}" cxnId="{DE2BA8B0-6801-4AB1-A038-132B50077CC1}" type="parTrans">
      <dgm:prSet/>
      <dgm:spPr/>
      <dgm:t>
        <a:bodyPr/>
        <a:lstStyle/>
        <a:p>
          <a:endParaRPr lang="en-US"/>
        </a:p>
      </dgm:t>
    </dgm:pt>
    <dgm:pt modelId="{C6C4F9AC-96D2-4536-8128-EA1A1858C220}" cxnId="{DE2BA8B0-6801-4AB1-A038-132B50077CC1}" type="sibTrans">
      <dgm:prSet/>
      <dgm:spPr/>
      <dgm:t>
        <a:bodyPr/>
        <a:lstStyle/>
        <a:p>
          <a:endParaRPr lang="en-US"/>
        </a:p>
      </dgm:t>
    </dgm:pt>
    <dgm:pt modelId="{FDEF326C-DDBF-4E04-AC3D-7E9502746A25}" type="pres">
      <dgm:prSet presAssocID="{95984B19-32FE-4AFC-9379-25ECCC4A0A4A}" presName="root" presStyleCnt="0">
        <dgm:presLayoutVars>
          <dgm:dir/>
          <dgm:resizeHandles val="exact"/>
        </dgm:presLayoutVars>
      </dgm:prSet>
      <dgm:spPr/>
    </dgm:pt>
    <dgm:pt modelId="{C7A5653C-F15A-4380-9D45-CD01C7C6BA2F}" type="pres">
      <dgm:prSet presAssocID="{4070EB14-B497-4857-8B76-BC582EB22793}" presName="compNode" presStyleCnt="0"/>
      <dgm:spPr/>
    </dgm:pt>
    <dgm:pt modelId="{41B30C56-6CDE-447D-B5F5-30AE3E12EF7D}" type="pres">
      <dgm:prSet presAssocID="{4070EB14-B497-4857-8B76-BC582EB227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ECF1BFC3-0196-43B0-846B-8CA27E2F96E8}" type="pres">
      <dgm:prSet presAssocID="{4070EB14-B497-4857-8B76-BC582EB22793}" presName="spaceRect" presStyleCnt="0"/>
      <dgm:spPr/>
    </dgm:pt>
    <dgm:pt modelId="{57DE8EA9-9414-4B42-9A27-E01252ADD799}" type="pres">
      <dgm:prSet presAssocID="{4070EB14-B497-4857-8B76-BC582EB22793}" presName="textRect" presStyleLbl="revTx" presStyleIdx="0" presStyleCnt="3">
        <dgm:presLayoutVars>
          <dgm:chMax val="1"/>
          <dgm:chPref val="1"/>
        </dgm:presLayoutVars>
      </dgm:prSet>
      <dgm:spPr/>
    </dgm:pt>
    <dgm:pt modelId="{729844FD-3384-4693-A40D-290472727DA7}" type="pres">
      <dgm:prSet presAssocID="{1179EFAE-762C-4D8F-B2B1-8C2D2E8A0FAF}" presName="sibTrans" presStyleCnt="0"/>
      <dgm:spPr/>
    </dgm:pt>
    <dgm:pt modelId="{BADC6EB4-71B0-4465-AB3E-26814097F380}" type="pres">
      <dgm:prSet presAssocID="{A9CB2A62-E485-4498-9B2E-F31A4DEC46AF}" presName="compNode" presStyleCnt="0"/>
      <dgm:spPr/>
    </dgm:pt>
    <dgm:pt modelId="{03B80E81-150D-4E37-BFE8-A818567C7806}" type="pres">
      <dgm:prSet presAssocID="{A9CB2A62-E485-4498-9B2E-F31A4DEC46A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0B0C4B1E-73E1-49C5-846E-83E10FD7B24B}" type="pres">
      <dgm:prSet presAssocID="{A9CB2A62-E485-4498-9B2E-F31A4DEC46AF}" presName="spaceRect" presStyleCnt="0"/>
      <dgm:spPr/>
    </dgm:pt>
    <dgm:pt modelId="{9C53AF23-9F0B-4AA2-9458-70B627F9AB3C}" type="pres">
      <dgm:prSet presAssocID="{A9CB2A62-E485-4498-9B2E-F31A4DEC46AF}" presName="textRect" presStyleLbl="revTx" presStyleIdx="1" presStyleCnt="3">
        <dgm:presLayoutVars>
          <dgm:chMax val="1"/>
          <dgm:chPref val="1"/>
        </dgm:presLayoutVars>
      </dgm:prSet>
      <dgm:spPr/>
    </dgm:pt>
    <dgm:pt modelId="{62F763AF-547C-4B05-97BE-EACCE6F7C8F5}" type="pres">
      <dgm:prSet presAssocID="{A5393392-298C-4DBF-8EFF-7614DD0A1548}" presName="sibTrans" presStyleCnt="0"/>
      <dgm:spPr/>
    </dgm:pt>
    <dgm:pt modelId="{DC69EEAB-EBDA-43C3-91DD-015825D774A8}" type="pres">
      <dgm:prSet presAssocID="{D80E0429-D065-4B69-BFD0-F4C527704FEE}" presName="compNode" presStyleCnt="0"/>
      <dgm:spPr/>
    </dgm:pt>
    <dgm:pt modelId="{7D95055E-4736-475C-BF9B-447452C59C74}" type="pres">
      <dgm:prSet presAssocID="{D80E0429-D065-4B69-BFD0-F4C527704F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6EED1B43-950B-40C0-AC77-63E8D7EED564}" type="pres">
      <dgm:prSet presAssocID="{D80E0429-D065-4B69-BFD0-F4C527704FEE}" presName="spaceRect" presStyleCnt="0"/>
      <dgm:spPr/>
    </dgm:pt>
    <dgm:pt modelId="{4C419876-E81E-4B58-8461-C92ED9418282}" type="pres">
      <dgm:prSet presAssocID="{D80E0429-D065-4B69-BFD0-F4C527704FE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2B58002-DDA0-4211-88D9-D1CEE3D91B6A}" type="presOf" srcId="{4070EB14-B497-4857-8B76-BC582EB22793}" destId="{57DE8EA9-9414-4B42-9A27-E01252ADD799}" srcOrd="0" destOrd="0" presId="urn:microsoft.com/office/officeart/2018/2/layout/IconLabelList"/>
    <dgm:cxn modelId="{41CE5474-BD63-450B-B4BF-18AB189FA92F}" srcId="{95984B19-32FE-4AFC-9379-25ECCC4A0A4A}" destId="{A9CB2A62-E485-4498-9B2E-F31A4DEC46AF}" srcOrd="1" destOrd="0" parTransId="{84CDD30E-B3D9-48A4-B0A6-9123A3609E32}" sibTransId="{A5393392-298C-4DBF-8EFF-7614DD0A1548}"/>
    <dgm:cxn modelId="{EF7DBE9E-8CD1-4F5B-994E-E0ADA7FD9B28}" type="presOf" srcId="{95984B19-32FE-4AFC-9379-25ECCC4A0A4A}" destId="{FDEF326C-DDBF-4E04-AC3D-7E9502746A25}" srcOrd="0" destOrd="0" presId="urn:microsoft.com/office/officeart/2018/2/layout/IconLabelList"/>
    <dgm:cxn modelId="{DE2BA8B0-6801-4AB1-A038-132B50077CC1}" srcId="{95984B19-32FE-4AFC-9379-25ECCC4A0A4A}" destId="{D80E0429-D065-4B69-BFD0-F4C527704FEE}" srcOrd="2" destOrd="0" parTransId="{FBAB61F9-12EE-46D5-B72D-40E9CD12CCB5}" sibTransId="{C6C4F9AC-96D2-4536-8128-EA1A1858C220}"/>
    <dgm:cxn modelId="{152870B8-E7EF-4A8C-B1F3-9E19009AE551}" srcId="{95984B19-32FE-4AFC-9379-25ECCC4A0A4A}" destId="{4070EB14-B497-4857-8B76-BC582EB22793}" srcOrd="0" destOrd="0" parTransId="{C90924AD-A8B3-47F3-BB4E-44E30A7AABBD}" sibTransId="{1179EFAE-762C-4D8F-B2B1-8C2D2E8A0FAF}"/>
    <dgm:cxn modelId="{719FFCEE-BC62-45C8-9E86-D1283FE7B8A3}" type="presOf" srcId="{D80E0429-D065-4B69-BFD0-F4C527704FEE}" destId="{4C419876-E81E-4B58-8461-C92ED9418282}" srcOrd="0" destOrd="0" presId="urn:microsoft.com/office/officeart/2018/2/layout/IconLabelList"/>
    <dgm:cxn modelId="{BD6B0AFB-FD1F-42D0-880D-72454F4179E4}" type="presOf" srcId="{A9CB2A62-E485-4498-9B2E-F31A4DEC46AF}" destId="{9C53AF23-9F0B-4AA2-9458-70B627F9AB3C}" srcOrd="0" destOrd="0" presId="urn:microsoft.com/office/officeart/2018/2/layout/IconLabelList"/>
    <dgm:cxn modelId="{5DCDEE95-42CD-4DAD-8B5F-8B49A62CE559}" type="presParOf" srcId="{FDEF326C-DDBF-4E04-AC3D-7E9502746A25}" destId="{C7A5653C-F15A-4380-9D45-CD01C7C6BA2F}" srcOrd="0" destOrd="0" presId="urn:microsoft.com/office/officeart/2018/2/layout/IconLabelList"/>
    <dgm:cxn modelId="{25EB17F7-2F55-4738-8BA2-C74A946C4E30}" type="presParOf" srcId="{C7A5653C-F15A-4380-9D45-CD01C7C6BA2F}" destId="{41B30C56-6CDE-447D-B5F5-30AE3E12EF7D}" srcOrd="0" destOrd="0" presId="urn:microsoft.com/office/officeart/2018/2/layout/IconLabelList"/>
    <dgm:cxn modelId="{2C147C80-32CC-423A-8CFD-95B11D0479C8}" type="presParOf" srcId="{C7A5653C-F15A-4380-9D45-CD01C7C6BA2F}" destId="{ECF1BFC3-0196-43B0-846B-8CA27E2F96E8}" srcOrd="1" destOrd="0" presId="urn:microsoft.com/office/officeart/2018/2/layout/IconLabelList"/>
    <dgm:cxn modelId="{6035E80A-641A-48F9-984C-FE4714DA94AE}" type="presParOf" srcId="{C7A5653C-F15A-4380-9D45-CD01C7C6BA2F}" destId="{57DE8EA9-9414-4B42-9A27-E01252ADD799}" srcOrd="2" destOrd="0" presId="urn:microsoft.com/office/officeart/2018/2/layout/IconLabelList"/>
    <dgm:cxn modelId="{42C8FEB5-B70B-425A-A401-D45B7DE415DF}" type="presParOf" srcId="{FDEF326C-DDBF-4E04-AC3D-7E9502746A25}" destId="{729844FD-3384-4693-A40D-290472727DA7}" srcOrd="1" destOrd="0" presId="urn:microsoft.com/office/officeart/2018/2/layout/IconLabelList"/>
    <dgm:cxn modelId="{EBA19330-2522-4A70-8FF9-A26DC8AD9268}" type="presParOf" srcId="{FDEF326C-DDBF-4E04-AC3D-7E9502746A25}" destId="{BADC6EB4-71B0-4465-AB3E-26814097F380}" srcOrd="2" destOrd="0" presId="urn:microsoft.com/office/officeart/2018/2/layout/IconLabelList"/>
    <dgm:cxn modelId="{06836D18-F48C-4E25-9BEC-9C33AC4F4EF5}" type="presParOf" srcId="{BADC6EB4-71B0-4465-AB3E-26814097F380}" destId="{03B80E81-150D-4E37-BFE8-A818567C7806}" srcOrd="0" destOrd="0" presId="urn:microsoft.com/office/officeart/2018/2/layout/IconLabelList"/>
    <dgm:cxn modelId="{E33F47BD-B8B0-4666-BC6D-64558B0FCFC7}" type="presParOf" srcId="{BADC6EB4-71B0-4465-AB3E-26814097F380}" destId="{0B0C4B1E-73E1-49C5-846E-83E10FD7B24B}" srcOrd="1" destOrd="0" presId="urn:microsoft.com/office/officeart/2018/2/layout/IconLabelList"/>
    <dgm:cxn modelId="{7684AC9F-380B-4D01-91C6-D3940F5DBB99}" type="presParOf" srcId="{BADC6EB4-71B0-4465-AB3E-26814097F380}" destId="{9C53AF23-9F0B-4AA2-9458-70B627F9AB3C}" srcOrd="2" destOrd="0" presId="urn:microsoft.com/office/officeart/2018/2/layout/IconLabelList"/>
    <dgm:cxn modelId="{97CF7795-89C3-46AA-A676-8E90D31ABCF4}" type="presParOf" srcId="{FDEF326C-DDBF-4E04-AC3D-7E9502746A25}" destId="{62F763AF-547C-4B05-97BE-EACCE6F7C8F5}" srcOrd="3" destOrd="0" presId="urn:microsoft.com/office/officeart/2018/2/layout/IconLabelList"/>
    <dgm:cxn modelId="{362E2104-7F24-4123-B136-341B447EDA69}" type="presParOf" srcId="{FDEF326C-DDBF-4E04-AC3D-7E9502746A25}" destId="{DC69EEAB-EBDA-43C3-91DD-015825D774A8}" srcOrd="4" destOrd="0" presId="urn:microsoft.com/office/officeart/2018/2/layout/IconLabelList"/>
    <dgm:cxn modelId="{14FF4056-488E-4375-8606-2066FA5969D2}" type="presParOf" srcId="{DC69EEAB-EBDA-43C3-91DD-015825D774A8}" destId="{7D95055E-4736-475C-BF9B-447452C59C74}" srcOrd="0" destOrd="0" presId="urn:microsoft.com/office/officeart/2018/2/layout/IconLabelList"/>
    <dgm:cxn modelId="{478B6606-7557-4282-BCCE-411C80FE92F2}" type="presParOf" srcId="{DC69EEAB-EBDA-43C3-91DD-015825D774A8}" destId="{6EED1B43-950B-40C0-AC77-63E8D7EED564}" srcOrd="1" destOrd="0" presId="urn:microsoft.com/office/officeart/2018/2/layout/IconLabelList"/>
    <dgm:cxn modelId="{24E08590-4DD3-4F0D-BCA7-405102C66566}" type="presParOf" srcId="{DC69EEAB-EBDA-43C3-91DD-015825D774A8}" destId="{4C419876-E81E-4B58-8461-C92ED94182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E87B14-29B6-474D-809C-52B199F4737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F95532-BBA8-40CB-AB08-991EBBDCFEA2}">
      <dgm:prSet/>
      <dgm:spPr/>
      <dgm:t>
        <a:bodyPr/>
        <a:lstStyle/>
        <a:p>
          <a:r>
            <a:rPr lang="en-US" b="1" dirty="0"/>
            <a:t>Alpha Checkpoint (Week 8):</a:t>
          </a:r>
          <a:r>
            <a:rPr lang="en-US" dirty="0"/>
            <a:t> Core features operational; end-to-end trade demo available.</a:t>
          </a:r>
        </a:p>
      </dgm:t>
    </dgm:pt>
    <dgm:pt modelId="{61F784F0-2F3F-41D2-9498-4BFD1B4007E7}" cxnId="{FF081EF8-24AC-40D0-A81D-C8D075099825}" type="parTrans">
      <dgm:prSet/>
      <dgm:spPr/>
      <dgm:t>
        <a:bodyPr/>
        <a:lstStyle/>
        <a:p>
          <a:endParaRPr lang="en-US"/>
        </a:p>
      </dgm:t>
    </dgm:pt>
    <dgm:pt modelId="{CE98CBC7-F9EA-45EF-9214-08136C42C22D}" cxnId="{FF081EF8-24AC-40D0-A81D-C8D075099825}" type="sibTrans">
      <dgm:prSet/>
      <dgm:spPr/>
      <dgm:t>
        <a:bodyPr/>
        <a:lstStyle/>
        <a:p>
          <a:endParaRPr lang="en-US"/>
        </a:p>
      </dgm:t>
    </dgm:pt>
    <dgm:pt modelId="{480B236E-CE5B-4AFF-A56F-052136C648D6}">
      <dgm:prSet/>
      <dgm:spPr/>
      <dgm:t>
        <a:bodyPr/>
        <a:lstStyle/>
        <a:p>
          <a:r>
            <a:rPr lang="en-US" b="1" dirty="0"/>
            <a:t>Beta Checkpoint (Week 15):</a:t>
          </a:r>
          <a:r>
            <a:rPr lang="en-US" dirty="0"/>
            <a:t> Smart pricing, recommendations, and advanced trading online.</a:t>
          </a:r>
        </a:p>
      </dgm:t>
    </dgm:pt>
    <dgm:pt modelId="{5EBED54A-4C73-4800-AFBA-D8747DC1E807}" cxnId="{8CC9D500-1F52-4E45-B966-182337009A93}" type="parTrans">
      <dgm:prSet/>
      <dgm:spPr/>
      <dgm:t>
        <a:bodyPr/>
        <a:lstStyle/>
        <a:p>
          <a:endParaRPr lang="en-US"/>
        </a:p>
      </dgm:t>
    </dgm:pt>
    <dgm:pt modelId="{6E208999-A1E8-47B1-9F02-0E4E2D34180C}" cxnId="{8CC9D500-1F52-4E45-B966-182337009A93}" type="sibTrans">
      <dgm:prSet/>
      <dgm:spPr/>
      <dgm:t>
        <a:bodyPr/>
        <a:lstStyle/>
        <a:p>
          <a:endParaRPr lang="en-US"/>
        </a:p>
      </dgm:t>
    </dgm:pt>
    <dgm:pt modelId="{BC6AA881-E307-4011-B765-23E914F759C4}">
      <dgm:prSet/>
      <dgm:spPr/>
      <dgm:t>
        <a:bodyPr/>
        <a:lstStyle/>
        <a:p>
          <a:r>
            <a:rPr lang="en-US" b="1" dirty="0"/>
            <a:t>Final Submission:</a:t>
          </a:r>
          <a:r>
            <a:rPr lang="en-US" dirty="0"/>
            <a:t> Includes recorded demo, written report, and presentation slides.</a:t>
          </a:r>
        </a:p>
      </dgm:t>
    </dgm:pt>
    <dgm:pt modelId="{EF39B96A-8FE8-4B56-89A5-00DD2EB3CE27}" cxnId="{2FC62E8B-7473-4630-AF8C-8A81AD4A1D06}" type="parTrans">
      <dgm:prSet/>
      <dgm:spPr/>
      <dgm:t>
        <a:bodyPr/>
        <a:lstStyle/>
        <a:p>
          <a:endParaRPr lang="en-US"/>
        </a:p>
      </dgm:t>
    </dgm:pt>
    <dgm:pt modelId="{C8A11D9C-6BF0-4B4C-AC9C-C064D89D2E17}" cxnId="{2FC62E8B-7473-4630-AF8C-8A81AD4A1D06}" type="sibTrans">
      <dgm:prSet/>
      <dgm:spPr/>
      <dgm:t>
        <a:bodyPr/>
        <a:lstStyle/>
        <a:p>
          <a:endParaRPr lang="en-US"/>
        </a:p>
      </dgm:t>
    </dgm:pt>
    <dgm:pt modelId="{F95DA21F-96AE-4CB5-AE8D-0187E18701E4}" type="pres">
      <dgm:prSet presAssocID="{C4E87B14-29B6-474D-809C-52B199F47373}" presName="Name0" presStyleCnt="0">
        <dgm:presLayoutVars>
          <dgm:dir/>
          <dgm:animLvl val="lvl"/>
          <dgm:resizeHandles val="exact"/>
        </dgm:presLayoutVars>
      </dgm:prSet>
      <dgm:spPr/>
    </dgm:pt>
    <dgm:pt modelId="{F311047E-3328-4B2D-A771-A0C9658A94AB}" type="pres">
      <dgm:prSet presAssocID="{5EF95532-BBA8-40CB-AB08-991EBBDCFEA2}" presName="linNode" presStyleCnt="0"/>
      <dgm:spPr/>
    </dgm:pt>
    <dgm:pt modelId="{3CC582E0-7A91-4D53-8EE9-8C097B81DCA1}" type="pres">
      <dgm:prSet presAssocID="{5EF95532-BBA8-40CB-AB08-991EBBDCFEA2}" presName="parentText" presStyleLbl="node1" presStyleIdx="0" presStyleCnt="3" custScaleX="214306">
        <dgm:presLayoutVars>
          <dgm:chMax val="1"/>
          <dgm:bulletEnabled val="1"/>
        </dgm:presLayoutVars>
      </dgm:prSet>
      <dgm:spPr/>
    </dgm:pt>
    <dgm:pt modelId="{C26A3CB0-CC11-4ACA-A728-45D5E367B5A9}" type="pres">
      <dgm:prSet presAssocID="{CE98CBC7-F9EA-45EF-9214-08136C42C22D}" presName="sp" presStyleCnt="0"/>
      <dgm:spPr/>
    </dgm:pt>
    <dgm:pt modelId="{315A6D1A-2E13-4EDB-B23C-FE91410F7DDF}" type="pres">
      <dgm:prSet presAssocID="{480B236E-CE5B-4AFF-A56F-052136C648D6}" presName="linNode" presStyleCnt="0"/>
      <dgm:spPr/>
    </dgm:pt>
    <dgm:pt modelId="{BF167D16-174A-4BE7-827F-44A14D4BF98E}" type="pres">
      <dgm:prSet presAssocID="{480B236E-CE5B-4AFF-A56F-052136C648D6}" presName="parentText" presStyleLbl="node1" presStyleIdx="1" presStyleCnt="3" custScaleX="214329">
        <dgm:presLayoutVars>
          <dgm:chMax val="1"/>
          <dgm:bulletEnabled val="1"/>
        </dgm:presLayoutVars>
      </dgm:prSet>
      <dgm:spPr/>
    </dgm:pt>
    <dgm:pt modelId="{60199B49-8384-4C6F-A879-7C0B6546BCA3}" type="pres">
      <dgm:prSet presAssocID="{6E208999-A1E8-47B1-9F02-0E4E2D34180C}" presName="sp" presStyleCnt="0"/>
      <dgm:spPr/>
    </dgm:pt>
    <dgm:pt modelId="{7BDFA58F-E4A3-4074-996F-26280BAE627A}" type="pres">
      <dgm:prSet presAssocID="{BC6AA881-E307-4011-B765-23E914F759C4}" presName="linNode" presStyleCnt="0"/>
      <dgm:spPr/>
    </dgm:pt>
    <dgm:pt modelId="{B9B89A69-13ED-4225-90CE-23CCF66A9858}" type="pres">
      <dgm:prSet presAssocID="{BC6AA881-E307-4011-B765-23E914F759C4}" presName="parentText" presStyleLbl="node1" presStyleIdx="2" presStyleCnt="3" custScaleX="214329">
        <dgm:presLayoutVars>
          <dgm:chMax val="1"/>
          <dgm:bulletEnabled val="1"/>
        </dgm:presLayoutVars>
      </dgm:prSet>
      <dgm:spPr/>
    </dgm:pt>
  </dgm:ptLst>
  <dgm:cxnLst>
    <dgm:cxn modelId="{8CC9D500-1F52-4E45-B966-182337009A93}" srcId="{C4E87B14-29B6-474D-809C-52B199F47373}" destId="{480B236E-CE5B-4AFF-A56F-052136C648D6}" srcOrd="1" destOrd="0" parTransId="{5EBED54A-4C73-4800-AFBA-D8747DC1E807}" sibTransId="{6E208999-A1E8-47B1-9F02-0E4E2D34180C}"/>
    <dgm:cxn modelId="{5157850B-ACEF-4973-991C-36B409D519E2}" type="presOf" srcId="{480B236E-CE5B-4AFF-A56F-052136C648D6}" destId="{BF167D16-174A-4BE7-827F-44A14D4BF98E}" srcOrd="0" destOrd="0" presId="urn:microsoft.com/office/officeart/2005/8/layout/vList5"/>
    <dgm:cxn modelId="{40AA1944-4D22-4A6D-83F3-4BFBA1F3CD9C}" type="presOf" srcId="{C4E87B14-29B6-474D-809C-52B199F47373}" destId="{F95DA21F-96AE-4CB5-AE8D-0187E18701E4}" srcOrd="0" destOrd="0" presId="urn:microsoft.com/office/officeart/2005/8/layout/vList5"/>
    <dgm:cxn modelId="{F1E7CB7C-A1D8-48BB-82C4-75ED673E48C5}" type="presOf" srcId="{BC6AA881-E307-4011-B765-23E914F759C4}" destId="{B9B89A69-13ED-4225-90CE-23CCF66A9858}" srcOrd="0" destOrd="0" presId="urn:microsoft.com/office/officeart/2005/8/layout/vList5"/>
    <dgm:cxn modelId="{2FC62E8B-7473-4630-AF8C-8A81AD4A1D06}" srcId="{C4E87B14-29B6-474D-809C-52B199F47373}" destId="{BC6AA881-E307-4011-B765-23E914F759C4}" srcOrd="2" destOrd="0" parTransId="{EF39B96A-8FE8-4B56-89A5-00DD2EB3CE27}" sibTransId="{C8A11D9C-6BF0-4B4C-AC9C-C064D89D2E17}"/>
    <dgm:cxn modelId="{B01AC59E-AD16-4063-823B-4A5727C16AB3}" type="presOf" srcId="{5EF95532-BBA8-40CB-AB08-991EBBDCFEA2}" destId="{3CC582E0-7A91-4D53-8EE9-8C097B81DCA1}" srcOrd="0" destOrd="0" presId="urn:microsoft.com/office/officeart/2005/8/layout/vList5"/>
    <dgm:cxn modelId="{FF081EF8-24AC-40D0-A81D-C8D075099825}" srcId="{C4E87B14-29B6-474D-809C-52B199F47373}" destId="{5EF95532-BBA8-40CB-AB08-991EBBDCFEA2}" srcOrd="0" destOrd="0" parTransId="{61F784F0-2F3F-41D2-9498-4BFD1B4007E7}" sibTransId="{CE98CBC7-F9EA-45EF-9214-08136C42C22D}"/>
    <dgm:cxn modelId="{009351CB-4966-44BC-B226-626CE86E0BE4}" type="presParOf" srcId="{F95DA21F-96AE-4CB5-AE8D-0187E18701E4}" destId="{F311047E-3328-4B2D-A771-A0C9658A94AB}" srcOrd="0" destOrd="0" presId="urn:microsoft.com/office/officeart/2005/8/layout/vList5"/>
    <dgm:cxn modelId="{B91E69AF-92E2-4EA6-999E-E1B8D6FB076C}" type="presParOf" srcId="{F311047E-3328-4B2D-A771-A0C9658A94AB}" destId="{3CC582E0-7A91-4D53-8EE9-8C097B81DCA1}" srcOrd="0" destOrd="0" presId="urn:microsoft.com/office/officeart/2005/8/layout/vList5"/>
    <dgm:cxn modelId="{FEC8B6DB-BFA7-4BDE-B8F1-5E34E3EF9816}" type="presParOf" srcId="{F95DA21F-96AE-4CB5-AE8D-0187E18701E4}" destId="{C26A3CB0-CC11-4ACA-A728-45D5E367B5A9}" srcOrd="1" destOrd="0" presId="urn:microsoft.com/office/officeart/2005/8/layout/vList5"/>
    <dgm:cxn modelId="{C18202AE-A0CF-4C6C-B5B0-3631C8B19D4B}" type="presParOf" srcId="{F95DA21F-96AE-4CB5-AE8D-0187E18701E4}" destId="{315A6D1A-2E13-4EDB-B23C-FE91410F7DDF}" srcOrd="2" destOrd="0" presId="urn:microsoft.com/office/officeart/2005/8/layout/vList5"/>
    <dgm:cxn modelId="{EBBBB777-0271-4613-BBFF-0CA437EABFD1}" type="presParOf" srcId="{315A6D1A-2E13-4EDB-B23C-FE91410F7DDF}" destId="{BF167D16-174A-4BE7-827F-44A14D4BF98E}" srcOrd="0" destOrd="0" presId="urn:microsoft.com/office/officeart/2005/8/layout/vList5"/>
    <dgm:cxn modelId="{7E591015-034F-4EA9-B063-57B6A0860B60}" type="presParOf" srcId="{F95DA21F-96AE-4CB5-AE8D-0187E18701E4}" destId="{60199B49-8384-4C6F-A879-7C0B6546BCA3}" srcOrd="3" destOrd="0" presId="urn:microsoft.com/office/officeart/2005/8/layout/vList5"/>
    <dgm:cxn modelId="{53AE2561-F5D8-47DB-B68B-C77F44D044CB}" type="presParOf" srcId="{F95DA21F-96AE-4CB5-AE8D-0187E18701E4}" destId="{7BDFA58F-E4A3-4074-996F-26280BAE627A}" srcOrd="4" destOrd="0" presId="urn:microsoft.com/office/officeart/2005/8/layout/vList5"/>
    <dgm:cxn modelId="{8B33DE69-5521-4EFB-85DB-0CD57E6C7A11}" type="presParOf" srcId="{7BDFA58F-E4A3-4074-996F-26280BAE627A}" destId="{B9B89A69-13ED-4225-90CE-23CCF66A985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927829" cy="4192805"/>
        <a:chOff x="0" y="0"/>
        <a:chExt cx="10927829" cy="4192805"/>
      </a:xfrm>
    </dsp:grpSpPr>
    <dsp:sp modelId="{41B30C56-6CDE-447D-B5F5-30AE3E12EF7D}">
      <dsp:nvSpPr>
        <dsp:cNvPr id="3" name="矩形 2"/>
        <dsp:cNvSpPr/>
      </dsp:nvSpPr>
      <dsp:spPr bwMode="white">
        <a:xfrm>
          <a:off x="1385054" y="-465016"/>
          <a:ext cx="2260668" cy="2260668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385054" y="-465016"/>
        <a:ext cx="2260668" cy="2260668"/>
      </dsp:txXfrm>
    </dsp:sp>
    <dsp:sp modelId="{57DE8EA9-9414-4B42-9A27-E01252ADD799}">
      <dsp:nvSpPr>
        <dsp:cNvPr id="4" name="矩形 3"/>
        <dsp:cNvSpPr/>
      </dsp:nvSpPr>
      <dsp:spPr bwMode="white">
        <a:xfrm>
          <a:off x="3535" y="1911302"/>
          <a:ext cx="502370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Week 8: Alpha Phase acceptance; delivery of a demonstrable MVP (Minimum Viable Product)</a:t>
          </a:r>
          <a:endParaRPr>
            <a:solidFill>
              <a:schemeClr val="tx1"/>
            </a:solidFill>
          </a:endParaRPr>
        </a:p>
      </dsp:txBody>
      <dsp:txXfrm>
        <a:off x="3535" y="1911302"/>
        <a:ext cx="5023707" cy="720000"/>
      </dsp:txXfrm>
    </dsp:sp>
    <dsp:sp modelId="{03B80E81-150D-4E37-BFE8-A818567C7806}">
      <dsp:nvSpPr>
        <dsp:cNvPr id="5" name="矩形 4"/>
        <dsp:cNvSpPr/>
      </dsp:nvSpPr>
      <dsp:spPr bwMode="white">
        <a:xfrm>
          <a:off x="7287909" y="-465016"/>
          <a:ext cx="2260668" cy="2260668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7287909" y="-465016"/>
        <a:ext cx="2260668" cy="2260668"/>
      </dsp:txXfrm>
    </dsp:sp>
    <dsp:sp modelId="{9C53AF23-9F0B-4AA2-9458-70B627F9AB3C}">
      <dsp:nvSpPr>
        <dsp:cNvPr id="6" name="矩形 5"/>
        <dsp:cNvSpPr/>
      </dsp:nvSpPr>
      <dsp:spPr bwMode="white">
        <a:xfrm>
          <a:off x="5906390" y="1911302"/>
          <a:ext cx="502370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Week 12: Completion of Beta I Phase; full launch of 1st-tier functions</a:t>
          </a:r>
          <a:endParaRPr>
            <a:solidFill>
              <a:schemeClr val="tx1"/>
            </a:solidFill>
          </a:endParaRPr>
        </a:p>
      </dsp:txBody>
      <dsp:txXfrm>
        <a:off x="5906390" y="1911302"/>
        <a:ext cx="5023707" cy="720000"/>
      </dsp:txXfrm>
    </dsp:sp>
    <dsp:sp modelId="{7D95055E-4736-475C-BF9B-447452C59C74}">
      <dsp:nvSpPr>
        <dsp:cNvPr id="7" name="矩形 6"/>
        <dsp:cNvSpPr/>
      </dsp:nvSpPr>
      <dsp:spPr bwMode="white">
        <a:xfrm>
          <a:off x="4334914" y="1561503"/>
          <a:ext cx="2260668" cy="2260668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sp:spPr>
      <dsp:style>
        <a:lnRef idx="2">
          <a:schemeClr val="lt1">
            <a:alpha val="0"/>
          </a:schemeClr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334914" y="1561503"/>
        <a:ext cx="2260668" cy="2260668"/>
      </dsp:txXfrm>
    </dsp:sp>
    <dsp:sp modelId="{4C419876-E81E-4B58-8461-C92ED9418282}">
      <dsp:nvSpPr>
        <dsp:cNvPr id="8" name="矩形 7"/>
        <dsp:cNvSpPr/>
      </dsp:nvSpPr>
      <dsp:spPr bwMode="white">
        <a:xfrm>
          <a:off x="2953395" y="3937821"/>
          <a:ext cx="5023707" cy="720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t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Week 15: Conclusion of Beta II Phase; overall platform testing &amp; delivery</a:t>
          </a:r>
          <a:endParaRPr>
            <a:solidFill>
              <a:schemeClr val="tx1"/>
            </a:solidFill>
          </a:endParaRPr>
        </a:p>
      </dsp:txBody>
      <dsp:txXfrm>
        <a:off x="2953395" y="3937821"/>
        <a:ext cx="502370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555347" cy="5546047"/>
        <a:chOff x="0" y="0"/>
        <a:chExt cx="6555347" cy="5546047"/>
      </a:xfrm>
    </dsp:grpSpPr>
    <dsp:sp modelId="{3CC582E0-7A91-4D53-8EE9-8C097B81DCA1}">
      <dsp:nvSpPr>
        <dsp:cNvPr id="3" name="圆角矩形 2"/>
        <dsp:cNvSpPr/>
      </dsp:nvSpPr>
      <dsp:spPr bwMode="white">
        <a:xfrm>
          <a:off x="748672" y="0"/>
          <a:ext cx="5057461" cy="178904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99060" tIns="49530" rIns="99060" bIns="4953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/>
            <a:t>Alpha Checkpoint (Week 8):</a:t>
          </a:r>
          <a:r>
            <a:rPr lang="en-US" dirty="0"/>
            <a:t> Core features operational; end-to-end trade demo available.</a:t>
          </a:r>
        </a:p>
      </dsp:txBody>
      <dsp:txXfrm>
        <a:off x="748672" y="0"/>
        <a:ext cx="5057461" cy="1789047"/>
      </dsp:txXfrm>
    </dsp:sp>
    <dsp:sp modelId="{BF167D16-174A-4BE7-827F-44A14D4BF98E}">
      <dsp:nvSpPr>
        <dsp:cNvPr id="4" name="圆角矩形 3"/>
        <dsp:cNvSpPr/>
      </dsp:nvSpPr>
      <dsp:spPr bwMode="white">
        <a:xfrm>
          <a:off x="748672" y="1878500"/>
          <a:ext cx="5058003" cy="178904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99060" tIns="49530" rIns="99060" bIns="4953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/>
            <a:t>Beta Checkpoint (Week 15):</a:t>
          </a:r>
          <a:r>
            <a:rPr lang="en-US" dirty="0"/>
            <a:t> Smart pricing, recommendations, and advanced trading online.</a:t>
          </a:r>
        </a:p>
      </dsp:txBody>
      <dsp:txXfrm>
        <a:off x="748672" y="1878500"/>
        <a:ext cx="5058003" cy="1789047"/>
      </dsp:txXfrm>
    </dsp:sp>
    <dsp:sp modelId="{B9B89A69-13ED-4225-90CE-23CCF66A9858}">
      <dsp:nvSpPr>
        <dsp:cNvPr id="5" name="圆角矩形 4"/>
        <dsp:cNvSpPr/>
      </dsp:nvSpPr>
      <dsp:spPr bwMode="white">
        <a:xfrm>
          <a:off x="748672" y="3757000"/>
          <a:ext cx="5058003" cy="178904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99060" tIns="49530" rIns="99060" bIns="4953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/>
            <a:t>Final Submission:</a:t>
          </a:r>
          <a:r>
            <a:rPr lang="en-US" dirty="0"/>
            <a:t> Includes recorded demo, written report, and presentation slides.</a:t>
          </a:r>
        </a:p>
      </dsp:txBody>
      <dsp:txXfrm>
        <a:off x="748672" y="3757000"/>
        <a:ext cx="5058003" cy="1789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F38367-765B-4E2D-AEBF-3B910DCFDB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D973D-F390-4D8C-A146-6D8ECC0008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altLang="zh-CN" sz="4800" b="1" dirty="0">
                <a:solidFill>
                  <a:srgbClr val="FFFFFF"/>
                </a:solidFill>
              </a:rPr>
              <a:t>BJUT Second-hand Campus Trading Platform</a:t>
            </a:r>
            <a:endParaRPr lang="zh-CN" altLang="en-US" sz="4800" dirty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31873" y="4797188"/>
            <a:ext cx="7125499" cy="1241828"/>
          </a:xfrm>
        </p:spPr>
        <p:txBody>
          <a:bodyPr>
            <a:normAutofit/>
          </a:bodyPr>
          <a:lstStyle/>
          <a:p>
            <a:pPr algn="r"/>
            <a:r>
              <a:rPr lang="en-US" altLang="zh-CN" dirty="0">
                <a:solidFill>
                  <a:srgbClr val="FFFFFF"/>
                </a:solidFill>
              </a:rPr>
              <a:t>From: </a:t>
            </a:r>
            <a:r>
              <a:rPr lang="en-US" altLang="zh-CN" dirty="0" err="1">
                <a:solidFill>
                  <a:srgbClr val="FFFFFF"/>
                </a:solidFill>
              </a:rPr>
              <a:t>Xinghang</a:t>
            </a:r>
            <a:r>
              <a:rPr lang="en-US" altLang="zh-CN" dirty="0">
                <a:solidFill>
                  <a:srgbClr val="FFFFFF"/>
                </a:solidFill>
              </a:rPr>
              <a:t> CAO, </a:t>
            </a:r>
            <a:r>
              <a:rPr lang="en-US" altLang="zh-CN" dirty="0" err="1">
                <a:solidFill>
                  <a:srgbClr val="FFFFFF"/>
                </a:solidFill>
              </a:rPr>
              <a:t>Haopu</a:t>
            </a:r>
            <a:r>
              <a:rPr lang="en-US" altLang="zh-CN" dirty="0">
                <a:solidFill>
                  <a:srgbClr val="FFFFFF"/>
                </a:solidFill>
              </a:rPr>
              <a:t> LIU, </a:t>
            </a:r>
            <a:r>
              <a:rPr lang="en-US" altLang="zh-CN" dirty="0" err="1">
                <a:solidFill>
                  <a:srgbClr val="FFFFFF"/>
                </a:solidFill>
              </a:rPr>
              <a:t>Hongyao</a:t>
            </a:r>
            <a:r>
              <a:rPr lang="en-US" altLang="zh-CN" dirty="0">
                <a:solidFill>
                  <a:srgbClr val="FFFFFF"/>
                </a:solidFill>
              </a:rPr>
              <a:t> QIAN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FFFFFF"/>
                </a:solidFill>
              </a:rPr>
              <a:t>Purpose:</a:t>
            </a:r>
            <a:endParaRPr lang="zh-CN" alt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zh-CN" sz="2000" dirty="0"/>
              <a:t>A Secure &amp; Intelligent Trading Ecosystem for Beijing University of Technology (BJUT) Students &amp; Staff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Category: Campus Life / Second-Hand Trading Platform</a:t>
            </a:r>
            <a:endParaRPr lang="en-US" altLang="zh-CN" sz="2000" dirty="0"/>
          </a:p>
          <a:p>
            <a:r>
              <a:rPr lang="en-US" altLang="zh-CN" sz="2000" dirty="0"/>
              <a:t>Development Tools: Android Studio, Firebase, SQLite, Kotlin/Java,  Jetpack Compose, ML Kit, Baidu AI,</a:t>
            </a:r>
            <a:r>
              <a:rPr lang="zh-CN" altLang="en-US" sz="2000" dirty="0"/>
              <a:t> </a:t>
            </a:r>
            <a:r>
              <a:rPr lang="en-US" altLang="zh-CN" sz="2000" dirty="0"/>
              <a:t>GitHub</a:t>
            </a:r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altLang="zh-CN" sz="4000" b="1">
                <a:solidFill>
                  <a:srgbClr val="FFFFFF"/>
                </a:solidFill>
              </a:rPr>
              <a:t>Project Overview</a:t>
            </a:r>
            <a:endParaRPr lang="zh-CN" altLang="en-US" sz="400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Positioning</a:t>
            </a:r>
            <a:r>
              <a:rPr lang="en-US" altLang="zh-CN" sz="2000" dirty="0"/>
              <a:t>: An Android-based mobile application exclusively designed for BJUT students and staff, focusing on on-campus second-hand goods and skill trading.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/>
              <a:t>Core Advantages</a:t>
            </a:r>
            <a:endParaRPr lang="en-US" altLang="zh-CN" sz="2000" b="1" dirty="0"/>
          </a:p>
          <a:p>
            <a:r>
              <a:rPr lang="en-US" altLang="zh-CN" sz="2000" b="1" dirty="0"/>
              <a:t>Security &amp; Trust</a:t>
            </a:r>
            <a:r>
              <a:rPr lang="en-US" altLang="zh-CN" sz="2000" dirty="0"/>
              <a:t>: Campus identity verification to eliminate risks of off-campus unfamiliar transactions</a:t>
            </a:r>
            <a:endParaRPr lang="en-US" altLang="zh-CN" sz="2000" dirty="0"/>
          </a:p>
          <a:p>
            <a:r>
              <a:rPr lang="en-US" altLang="zh-CN" sz="2000" b="1" dirty="0"/>
              <a:t>Social Integration</a:t>
            </a:r>
            <a:r>
              <a:rPr lang="en-US" altLang="zh-CN" sz="2000" dirty="0"/>
              <a:t>: Built-in interaction mechanisms to strengthen campus community connections</a:t>
            </a:r>
            <a:endParaRPr lang="en-US" altLang="zh-CN" sz="2000" dirty="0"/>
          </a:p>
          <a:p>
            <a:r>
              <a:rPr lang="en-US" altLang="zh-CN" sz="2000" b="1" dirty="0"/>
              <a:t>Ecosystem Goal</a:t>
            </a:r>
            <a:r>
              <a:rPr lang="en-US" altLang="zh-CN" sz="2000" dirty="0"/>
              <a:t>: Construct a green, efficient, and credible closed-loop campus trading system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Three-Tier Innovation Framework</a:t>
            </a:r>
            <a:endParaRPr lang="en-US" altLang="zh-CN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4038604" y="0"/>
          <a:ext cx="8153396" cy="6857572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991480"/>
                <a:gridCol w="2376752"/>
                <a:gridCol w="1463451"/>
                <a:gridCol w="2321713"/>
              </a:tblGrid>
              <a:tr h="629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0" cap="none" spc="0">
                          <a:solidFill>
                            <a:schemeClr val="tx1"/>
                          </a:solidFill>
                          <a:effectLst/>
                        </a:rPr>
                        <a:t>Tier</a:t>
                      </a:r>
                      <a:endParaRPr lang="zh-CN" sz="14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0" cap="none" spc="0" dirty="0">
                          <a:solidFill>
                            <a:schemeClr val="tx1"/>
                          </a:solidFill>
                          <a:effectLst/>
                        </a:rPr>
                        <a:t>Function Description</a:t>
                      </a:r>
                      <a:endParaRPr lang="zh-CN" sz="1400" b="1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0" cap="none" spc="0">
                          <a:solidFill>
                            <a:schemeClr val="tx1"/>
                          </a:solidFill>
                          <a:effectLst/>
                        </a:rPr>
                        <a:t>Phase Introduced</a:t>
                      </a:r>
                      <a:endParaRPr lang="zh-CN" sz="14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kern="0" cap="none" spc="0">
                          <a:solidFill>
                            <a:schemeClr val="tx1"/>
                          </a:solidFill>
                          <a:effectLst/>
                        </a:rPr>
                        <a:t>Target Value</a:t>
                      </a:r>
                      <a:endParaRPr lang="zh-CN" sz="14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650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kern="0" cap="none" spc="0" dirty="0">
                          <a:solidFill>
                            <a:schemeClr val="tx1"/>
                          </a:solidFill>
                          <a:effectLst/>
                        </a:rPr>
                        <a:t>Core Functions (Basic Layer)</a:t>
                      </a:r>
                      <a:endParaRPr lang="zh-CN" sz="1000" b="1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User authentication via student email</a:t>
                      </a:r>
                      <a:endParaRPr lang="en-US" sz="1000" kern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Item posting &amp; browsing</a:t>
                      </a:r>
                      <a:endParaRPr lang="en-US" sz="1000" kern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Instant campus messaging system</a:t>
                      </a:r>
                      <a:endParaRPr lang="en-US" sz="1000" b="0" i="0" kern="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</a:t>
                      </a:r>
                      <a:r>
                        <a:rPr lang="en-US" altLang="zh-C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Wish list management &amp; exchange matching</a:t>
                      </a:r>
                      <a:endParaRPr lang="en-US" altLang="zh-CN" sz="1000" b="0" dirty="0"/>
                    </a:p>
                    <a:p>
                      <a:pPr algn="l"/>
                      <a:r>
                        <a:rPr lang="zh-CN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🔹 </a:t>
                      </a:r>
                      <a:r>
                        <a:rPr lang="en-US" altLang="zh-C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Bilingual UI support</a:t>
                      </a:r>
                      <a:endParaRPr lang="zh-CN" sz="1000" b="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Alpha Phase</a:t>
                      </a:r>
                      <a:endParaRPr lang="zh-CN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kern="0" cap="none" spc="0">
                          <a:solidFill>
                            <a:schemeClr val="tx1"/>
                          </a:solidFill>
                          <a:effectLst/>
                        </a:rPr>
                        <a:t>Ensure platform usability and a complete interaction loop</a:t>
                      </a:r>
                      <a:endParaRPr lang="zh-CN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118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kern="0" cap="none" spc="0" dirty="0">
                          <a:solidFill>
                            <a:schemeClr val="tx1"/>
                          </a:solidFill>
                          <a:effectLst/>
                        </a:rPr>
                        <a:t>First-Tier Functions (Expansion Layer)</a:t>
                      </a:r>
                      <a:endParaRPr lang="zh-CN" sz="1000" b="1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Virtual transaction – support skill or virtual asset trading (e.g., notes, designs)</a:t>
                      </a:r>
                      <a:endParaRPr lang="en-US" sz="1000" kern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Textbook Zone – designated section for course material exchange</a:t>
                      </a:r>
                      <a:endParaRPr lang="en-US" sz="1000" kern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Reputation and transaction evaluation system</a:t>
                      </a:r>
                      <a:endParaRPr lang="en-US" sz="1000" kern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</a:t>
                      </a:r>
                      <a:r>
                        <a:rPr lang="en-US" altLang="zh-C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Achievement system (reward for posting, wish list interactions)</a:t>
                      </a:r>
                      <a:endParaRPr lang="en-US" altLang="zh-CN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</a:t>
                      </a:r>
                      <a:r>
                        <a:rPr lang="en-US" altLang="zh-C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 alert service (notify when wish list items meet price thresholds)</a:t>
                      </a:r>
                      <a:endParaRPr lang="zh-CN" sz="1000" b="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kern="0" cap="none" spc="0">
                          <a:solidFill>
                            <a:schemeClr val="tx1"/>
                          </a:solidFill>
                          <a:effectLst/>
                        </a:rPr>
                        <a:t>Early Beta Phase</a:t>
                      </a:r>
                      <a:endParaRPr lang="zh-CN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kern="0" cap="none" spc="0">
                          <a:solidFill>
                            <a:schemeClr val="tx1"/>
                          </a:solidFill>
                          <a:effectLst/>
                        </a:rPr>
                        <a:t>Enhance community engagement and safety perception</a:t>
                      </a:r>
                      <a:endParaRPr lang="zh-CN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550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kern="0" cap="none" spc="0">
                          <a:solidFill>
                            <a:schemeClr val="tx1"/>
                          </a:solidFill>
                          <a:effectLst/>
                        </a:rPr>
                        <a:t>Second-Tier Functions (Intelligent Layer)</a:t>
                      </a:r>
                      <a:endParaRPr lang="zh-CN" sz="1000" b="1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🔹 </a:t>
                      </a:r>
                      <a:r>
                        <a:rPr lang="en-US" altLang="zh-C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&amp; time-driven textbook recommendation (based on entry year, major, timetable, CET seasons)</a:t>
                      </a:r>
                      <a:endParaRPr lang="en-US" altLang="zh-CN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zh-CN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🔹 </a:t>
                      </a:r>
                      <a:r>
                        <a:rPr lang="en-US" altLang="zh-C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camera recognition (item category identification + price estimation via ML Kit/Baidu AI)</a:t>
                      </a:r>
                      <a:endParaRPr lang="en-US" altLang="zh-CN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Bartering – no cash transaction option</a:t>
                      </a:r>
                      <a:endParaRPr lang="en-US" sz="1000" kern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🔹 Automatic pricing &amp; dynamic price alert – generate price range based on similar products and historical trades, notify users of price drops</a:t>
                      </a:r>
                      <a:endParaRPr lang="zh-CN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Late Beta Phase</a:t>
                      </a:r>
                      <a:endParaRPr lang="zh-CN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Achieve platform intelligence and differentiated competitiveness</a:t>
                      </a:r>
                      <a:endParaRPr lang="zh-CN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4751" marR="7254" marT="15643" marB="1173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zh-CN" sz="4000" b="1" dirty="0">
                <a:solidFill>
                  <a:srgbClr val="FFFFFF"/>
                </a:solidFill>
              </a:rPr>
              <a:t>Core Modules &amp; Technology Stack</a:t>
            </a:r>
            <a:endParaRPr lang="zh-CN" alt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1" y="1575460"/>
          <a:ext cx="12191999" cy="5282537"/>
        </p:xfrm>
        <a:graphic>
          <a:graphicData uri="http://schemas.openxmlformats.org/drawingml/2006/table">
            <a:tbl>
              <a:tblPr/>
              <a:tblGrid>
                <a:gridCol w="4068809"/>
                <a:gridCol w="4061595"/>
                <a:gridCol w="4061595"/>
              </a:tblGrid>
              <a:tr h="41567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Module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00F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F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F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09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Function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60FE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F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0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0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Tech Stack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80F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F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F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3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2488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User &amp; Authentication Module</a:t>
                      </a:r>
                      <a:endParaRPr 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2007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09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0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Registration, login, logout, email verification, 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student ID parsing (entry year + major)</a:t>
                      </a:r>
                      <a:r>
                        <a:rPr lang="en-US" sz="1200" b="0" dirty="0">
                          <a:effectLst/>
                        </a:rPr>
                        <a:t>, language switch</a:t>
                      </a:r>
                      <a:endParaRPr lang="zh-CN" alt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000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F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0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 err="1">
                          <a:effectLst/>
                        </a:rPr>
                        <a:t>Supabase</a:t>
                      </a:r>
                      <a:r>
                        <a:rPr lang="en-US" sz="1200" b="0" dirty="0">
                          <a:effectLst/>
                        </a:rPr>
                        <a:t> Auth, SendGrid Email API, </a:t>
                      </a: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</a:rPr>
                        <a:t>SharedPreferences</a:t>
                      </a:r>
                      <a:r>
                        <a:rPr lang="en-US" sz="1200" b="0" dirty="0">
                          <a:effectLst/>
                        </a:rPr>
                        <a:t>, SHA-256 password hashing</a:t>
                      </a:r>
                      <a:endParaRPr 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E0F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F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3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488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Item &amp; Posting Module</a:t>
                      </a:r>
                      <a:endParaRPr 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201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5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0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49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Item CRUD operations, image upload/storage, category selection, 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exchange matching</a:t>
                      </a:r>
                      <a:endParaRPr lang="zh-CN" alt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005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0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3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Room (local storage), </a:t>
                      </a:r>
                      <a:r>
                        <a:rPr lang="en-US" sz="1200" b="0" dirty="0" err="1">
                          <a:effectLst/>
                        </a:rPr>
                        <a:t>Supabase</a:t>
                      </a:r>
                      <a:r>
                        <a:rPr lang="en-US" sz="1200" b="0" dirty="0">
                          <a:effectLst/>
                        </a:rPr>
                        <a:t> (cloud storage + PostgreSQL), </a:t>
                      </a: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</a:rPr>
                        <a:t>CameraX</a:t>
                      </a:r>
                      <a:r>
                        <a:rPr lang="en-US" sz="1200" b="0" dirty="0">
                          <a:effectLst/>
                        </a:rPr>
                        <a:t>, Coil (image loading)</a:t>
                      </a:r>
                      <a:endParaRPr lang="zh-CN" alt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A00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FD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3A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A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488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Intelligent Recommendation Module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404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39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49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Textbook recommendation (student ID + timetable + CET + wish list), explainable recommendation labeling</a:t>
                      </a:r>
                      <a:endParaRPr lang="zh-CN" alt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2039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3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2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Kotlin, TextbookRecommendationRepository, </a:t>
                      </a:r>
                      <a:r>
                        <a:rPr lang="en-US" sz="1200" b="0" dirty="0" err="1">
                          <a:effectLst/>
                        </a:rPr>
                        <a:t>StudentIdParser</a:t>
                      </a:r>
                      <a:r>
                        <a:rPr lang="en-US" sz="1200" b="0" dirty="0">
                          <a:effectLst/>
                        </a:rPr>
                        <a:t>, </a:t>
                      </a:r>
                      <a:r>
                        <a:rPr lang="en-US" sz="1200" b="0" dirty="0" err="1">
                          <a:effectLst/>
                        </a:rPr>
                        <a:t>TimetableRepository</a:t>
                      </a:r>
                      <a:endParaRPr lang="zh-CN" alt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00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3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A5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D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488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AI Camera Module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0033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1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Real-time preview, photo capture, item category recognition, price estimation</a:t>
                      </a:r>
                      <a:endParaRPr 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002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2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1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 err="1">
                          <a:effectLst/>
                        </a:rPr>
                        <a:t>CameraX</a:t>
                      </a:r>
                      <a:r>
                        <a:rPr lang="en-US" sz="1200" b="0" dirty="0">
                          <a:effectLst/>
                        </a:rPr>
                        <a:t>, ML Kit (local recognition), Baidu AI (cloud recognition)</a:t>
                      </a:r>
                      <a:endParaRPr lang="zh-CN" alt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0033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3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D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4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488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Communication Module</a:t>
                      </a:r>
                      <a:endParaRPr lang="en-US" sz="1200" b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40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7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1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One-to-one chat, recent conversation display, message persistence</a:t>
                      </a:r>
                      <a:endParaRPr 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307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1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1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Room (</a:t>
                      </a:r>
                      <a:r>
                        <a:rPr lang="en-US" sz="1200" b="0" dirty="0" err="1">
                          <a:effectLst/>
                        </a:rPr>
                        <a:t>ChatMessageDao</a:t>
                      </a:r>
                      <a:r>
                        <a:rPr lang="en-US" sz="1200" b="0" dirty="0">
                          <a:effectLst/>
                        </a:rPr>
                        <a:t>), </a:t>
                      </a:r>
                      <a:r>
                        <a:rPr lang="en-US" sz="1200" b="0" dirty="0" err="1">
                          <a:effectLst/>
                        </a:rPr>
                        <a:t>Supabase</a:t>
                      </a:r>
                      <a:r>
                        <a:rPr lang="en-US" sz="1200" b="0" dirty="0">
                          <a:effectLst/>
                        </a:rPr>
                        <a:t> Realtime Database, FCM (notifications)</a:t>
                      </a:r>
                      <a:endParaRPr lang="zh-CN" alt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601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4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54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45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Extended Function Module</a:t>
                      </a:r>
                      <a:endParaRPr lang="en-US" sz="1200" b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B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7E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Achievement tracking, wish list price alerts, study task summary</a:t>
                      </a:r>
                      <a:endParaRPr lang="zh-CN" alt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D08A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7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7C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8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Room (</a:t>
                      </a:r>
                      <a:r>
                        <a:rPr lang="en-US" sz="1200" b="0" dirty="0" err="1">
                          <a:effectLst/>
                        </a:rPr>
                        <a:t>AchievementDao</a:t>
                      </a:r>
                      <a:r>
                        <a:rPr lang="en-US" sz="1200" b="0" dirty="0">
                          <a:effectLst/>
                        </a:rPr>
                        <a:t>), Local Notification Service, </a:t>
                      </a:r>
                      <a:r>
                        <a:rPr lang="en-US" sz="1200" b="0" dirty="0" err="1">
                          <a:effectLst/>
                        </a:rPr>
                        <a:t>StateFlow</a:t>
                      </a:r>
                      <a:endParaRPr lang="en-US" sz="1200" b="0" dirty="0">
                        <a:effectLst/>
                      </a:endParaRPr>
                    </a:p>
                  </a:txBody>
                  <a:tcPr marL="73891" marR="73891" marT="49260" marB="49260" anchor="ctr">
                    <a:lnL w="9525" cap="flat" cmpd="sng" algn="ctr">
                      <a:solidFill>
                        <a:srgbClr val="907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7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54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61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</a:rPr>
              <a:t>Key Pain Points &amp; Targeted Solutions</a:t>
            </a:r>
            <a:endParaRPr lang="en-US" altLang="zh-CN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-2" y="1575460"/>
          <a:ext cx="12192000" cy="5282540"/>
        </p:xfrm>
        <a:graphic>
          <a:graphicData uri="http://schemas.openxmlformats.org/drawingml/2006/table">
            <a:tbl>
              <a:tblPr/>
              <a:tblGrid>
                <a:gridCol w="6096000"/>
                <a:gridCol w="6096000"/>
              </a:tblGrid>
              <a:tr h="52513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Pain Points of BDIC Students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0029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4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2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6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Our Targeted Solutions</a:t>
                      </a:r>
                      <a:endParaRPr lang="en-US" sz="16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8024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4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24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8B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13420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Textbook information is scattered across group chats and social media</a:t>
                      </a:r>
                      <a:endParaRPr lang="en-US" sz="1600" b="0" dirty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806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27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6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6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One-stop platform for textbook posting, browsing, searching, and centralized information aggregation</a:t>
                      </a:r>
                      <a:endParaRPr lang="en-US" sz="1600" b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E027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26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8B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9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420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Freshmen are unfamiliar with course arrangements/textbook editions</a:t>
                      </a:r>
                      <a:endParaRPr lang="en-US" sz="1600" b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006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6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6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74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Intelligent recommendation based on student ID (major + entry year) + BDIC timetable; explainable labels</a:t>
                      </a:r>
                      <a:endParaRPr lang="en-US" sz="1600" b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206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27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9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9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966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No unified platform to match supply and demand of second-hand textbooks</a:t>
                      </a:r>
                      <a:endParaRPr lang="en-US" sz="1600" b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2072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6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74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78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Exchange matching system + wishlist management</a:t>
                      </a:r>
                      <a:endParaRPr lang="en-US" sz="1600" b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006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27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9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9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966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Prices and quality of secondhand textbooks are not transparent</a:t>
                      </a:r>
                      <a:endParaRPr lang="en-US" sz="1600" b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0074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6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78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9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AI camera price estimation + </a:t>
                      </a:r>
                      <a:r>
                        <a:rPr lang="en-US" altLang="zh-CN" sz="1600" b="0" dirty="0">
                          <a:effectLst/>
                        </a:rPr>
                        <a:t>pricing suggestions</a:t>
                      </a:r>
                      <a:endParaRPr lang="en-US" sz="1600" b="0" dirty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006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27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9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AB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966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Language barriers for international students</a:t>
                      </a:r>
                      <a:endParaRPr lang="en-US" sz="1600" b="0" dirty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0095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6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9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95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Full bilingual UI (Chinese/English) with centralized text management</a:t>
                      </a:r>
                      <a:endParaRPr lang="en-US" sz="1600" b="0" dirty="0">
                        <a:effectLst/>
                      </a:endParaRPr>
                    </a:p>
                  </a:txBody>
                  <a:tcPr marL="154181" marR="154181" marT="102788" marB="102788" anchor="ctr">
                    <a:lnL w="9525" cap="flat" cmpd="sng" algn="ctr">
                      <a:solidFill>
                        <a:srgbClr val="006C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26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AB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27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zh-CN" sz="4000" b="1" dirty="0">
                <a:solidFill>
                  <a:srgbClr val="FFFFFF"/>
                </a:solidFill>
              </a:rPr>
              <a:t>Development Phase Plan</a:t>
            </a:r>
            <a:endParaRPr lang="zh-CN" alt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44056" y="2079057"/>
          <a:ext cx="10927830" cy="37057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7587"/>
                <a:gridCol w="1771621"/>
                <a:gridCol w="8198622"/>
              </a:tblGrid>
              <a:tr h="5881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kern="0">
                          <a:effectLst/>
                        </a:rPr>
                        <a:t>Phase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kern="0">
                          <a:effectLst/>
                        </a:rPr>
                        <a:t>Timeline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kern="0">
                          <a:effectLst/>
                        </a:rPr>
                        <a:t>Core Focus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</a:tr>
              <a:tr h="5881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>
                          <a:effectLst/>
                        </a:rPr>
                        <a:t>Alpha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>
                          <a:effectLst/>
                        </a:rPr>
                        <a:t>Week 1 – 8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 dirty="0">
                          <a:effectLst/>
                        </a:rPr>
                        <a:t>Core features (authentication ✔, trading ✔, chat ✔)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</a:tr>
              <a:tr h="14901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>
                          <a:effectLst/>
                        </a:rPr>
                        <a:t>Beta I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>
                          <a:effectLst/>
                        </a:rPr>
                        <a:t>Week 9 – 12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 dirty="0">
                          <a:effectLst/>
                        </a:rPr>
                        <a:t>First-tier functions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</a:tr>
              <a:tr h="10391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>
                          <a:effectLst/>
                        </a:rPr>
                        <a:t>Beta II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>
                          <a:effectLst/>
                        </a:rPr>
                        <a:t>Week 13 – 15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kern="0" dirty="0">
                          <a:effectLst/>
                        </a:rPr>
                        <a:t>Second-tier functions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501" marR="16501" marT="16501" marB="16501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zh-CN" sz="3600" b="1" dirty="0">
                <a:solidFill>
                  <a:srgbClr val="FFFFFF"/>
                </a:solidFill>
              </a:rPr>
              <a:t>Development Phase Plan - Key Milestones</a:t>
            </a:r>
            <a:endParaRPr lang="zh-CN" altLang="en-US" sz="3600" dirty="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/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Details of Intelligent Functions</a:t>
            </a:r>
            <a:endParaRPr lang="zh-CN" altLang="en-US" sz="4000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altLang="zh-CN" sz="2000" b="1" dirty="0"/>
              <a:t>Textbook Recommendations</a:t>
            </a:r>
            <a:endParaRPr lang="en-US" altLang="zh-CN" sz="2000" dirty="0"/>
          </a:p>
          <a:p>
            <a:pPr lvl="0"/>
            <a:r>
              <a:rPr lang="en-US" altLang="zh-CN" sz="2000" b="1" dirty="0"/>
              <a:t>Timetable based:</a:t>
            </a:r>
            <a:endParaRPr lang="en-US" altLang="zh-CN" sz="2000" dirty="0"/>
          </a:p>
          <a:p>
            <a:pPr lvl="1"/>
            <a:r>
              <a:rPr lang="en-US" altLang="zh-CN" sz="2000" dirty="0"/>
              <a:t>Based on the student id, locate the exact timetable from the database, give recommendations respectively</a:t>
            </a:r>
            <a:endParaRPr lang="en-US" altLang="zh-CN" sz="2000" dirty="0"/>
          </a:p>
          <a:p>
            <a:r>
              <a:rPr lang="en-US" altLang="zh-CN" sz="2000" b="1" dirty="0"/>
              <a:t>Test Located</a:t>
            </a:r>
            <a:r>
              <a:rPr lang="en-US" altLang="zh-CN" sz="2000" dirty="0"/>
              <a:t>: </a:t>
            </a:r>
            <a:endParaRPr lang="en-US" altLang="zh-CN" sz="2000" dirty="0"/>
          </a:p>
          <a:p>
            <a:pPr lvl="1"/>
            <a:r>
              <a:rPr lang="en-US" altLang="zh-CN" sz="2000" dirty="0"/>
              <a:t>More suggestions when different tests are coming nearer (e.g., CET4/CET6, IELTS)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Details of Intelligent Functions</a:t>
            </a:r>
            <a:endParaRPr lang="zh-CN" altLang="en-US" sz="4000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altLang="zh-CN" sz="2000" b="1" dirty="0"/>
              <a:t>AI Camera Recognition</a:t>
            </a:r>
            <a:endParaRPr lang="en-US" altLang="zh-CN" sz="2000" dirty="0"/>
          </a:p>
          <a:p>
            <a:r>
              <a:rPr lang="en-US" altLang="zh-CN" sz="2000" b="1" dirty="0"/>
              <a:t>Item Automatic Recognition: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Dynamically recognize items from the camera</a:t>
            </a:r>
            <a:endParaRPr lang="en-US" altLang="zh-CN" sz="2000" dirty="0"/>
          </a:p>
          <a:p>
            <a:r>
              <a:rPr lang="en-US" altLang="zh-CN" sz="2000" b="1" dirty="0"/>
              <a:t>Price Prediction</a:t>
            </a:r>
            <a:r>
              <a:rPr lang="en-US" altLang="zh-CN" sz="2000" dirty="0"/>
              <a:t>: </a:t>
            </a:r>
            <a:endParaRPr lang="en-US" altLang="zh-CN" sz="2000" dirty="0"/>
          </a:p>
          <a:p>
            <a:pPr lvl="1"/>
            <a:r>
              <a:rPr lang="en-US" altLang="zh-CN" sz="2000" dirty="0"/>
              <a:t>Give a suggested price based on the dynamic price alert algorithm</a:t>
            </a:r>
            <a:endParaRPr lang="en-US" altLang="zh-CN" sz="2000" dirty="0"/>
          </a:p>
          <a:p>
            <a:r>
              <a:rPr lang="en-US" altLang="zh-CN" sz="2000" b="1" dirty="0"/>
              <a:t>Item Matching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Matches the closest item card in the market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Details of Intelligent Functions</a:t>
            </a:r>
            <a:endParaRPr lang="zh-CN" altLang="en-US" sz="4000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altLang="zh-CN" sz="2000" b="1" dirty="0">
                <a:sym typeface="+mn-ea"/>
              </a:rPr>
              <a:t>Bartering – no cash transaction option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opportunities by comparing users' wishlists and listings: it scores title, price, description, and category similarity, then shows high-scoring matches so users can contact each other to swap items.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Details of Intelligent Functions</a:t>
            </a:r>
            <a:endParaRPr lang="zh-CN" altLang="en-US" sz="4000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Dynamic Price Alerts</a:t>
            </a:r>
            <a:endParaRPr lang="en-US" altLang="zh-CN" sz="2000" b="1" dirty="0"/>
          </a:p>
          <a:p>
            <a:r>
              <a:rPr lang="en-US" altLang="zh-CN" sz="2000" b="1" dirty="0"/>
              <a:t>Algorithm Logic</a:t>
            </a:r>
            <a:r>
              <a:rPr lang="en-US" altLang="zh-CN" sz="2000" dirty="0"/>
              <a:t>:</a:t>
            </a:r>
            <a:endParaRPr lang="en-US" altLang="zh-CN" sz="2000" dirty="0"/>
          </a:p>
          <a:p>
            <a:pPr lvl="1"/>
            <a:r>
              <a:rPr lang="en-US" altLang="zh-CN" sz="2000" dirty="0"/>
              <a:t>Extract transaction prices of items with similar tags/titles</a:t>
            </a:r>
            <a:endParaRPr lang="en-US" altLang="zh-CN" sz="2000" dirty="0"/>
          </a:p>
          <a:p>
            <a:pPr lvl="1"/>
            <a:r>
              <a:rPr lang="en-US" altLang="zh-CN" sz="2000" dirty="0"/>
              <a:t>Calculate the recommended price range (mean ± standard deviation)</a:t>
            </a:r>
            <a:endParaRPr lang="en-US" altLang="zh-CN" sz="2000" dirty="0"/>
          </a:p>
          <a:p>
            <a:pPr lvl="1"/>
            <a:r>
              <a:rPr lang="en-US" altLang="zh-CN" sz="2000" dirty="0"/>
              <a:t>Warn against "overpricing" and suggest optimal prices</a:t>
            </a:r>
            <a:endParaRPr lang="en-US" altLang="zh-CN" sz="2000" dirty="0"/>
          </a:p>
          <a:p>
            <a:pPr lvl="1"/>
            <a:r>
              <a:rPr lang="en-US" altLang="zh-CN" sz="2000" dirty="0"/>
              <a:t>Support "Price Tracking": Users set thresholds, and automatic alerts are sent when similar items drop below the threshold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>
                <a:solidFill>
                  <a:srgbClr val="FFFFFF"/>
                </a:solidFill>
              </a:rPr>
              <a:t>Deliverables &amp; Evaluation Metrics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22" name="内容占位符 2"/>
          <p:cNvGraphicFramePr>
            <a:graphicFrameLocks noGrp="1"/>
          </p:cNvGraphicFramePr>
          <p:nvPr>
            <p:ph idx="1"/>
          </p:nvPr>
        </p:nvGraphicFramePr>
        <p:xfrm>
          <a:off x="4810259" y="649480"/>
          <a:ext cx="65553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altLang="zh-CN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Alpha-Phase: Project Overview</a:t>
            </a:r>
            <a:endParaRPr lang="en-US" altLang="zh-CN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3100" b="1" dirty="0">
                <a:solidFill>
                  <a:srgbClr val="FFFFFF"/>
                </a:solidFill>
              </a:rPr>
              <a:t>Alpha Checkpoint:</a:t>
            </a:r>
            <a:r>
              <a:rPr lang="zh-CN" altLang="en-US" sz="3100" b="1" dirty="0">
                <a:solidFill>
                  <a:srgbClr val="FFFFFF"/>
                </a:solidFill>
              </a:rPr>
              <a:t> </a:t>
            </a:r>
            <a:r>
              <a:rPr lang="en-US" altLang="zh-CN" sz="3100" b="1" dirty="0">
                <a:solidFill>
                  <a:srgbClr val="FFFFFF"/>
                </a:solidFill>
              </a:rPr>
              <a:t>Basic Functions </a:t>
            </a:r>
            <a:endParaRPr lang="zh-CN" altLang="en-US" sz="3100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User Authentication System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Registration: Only supports @ucdconnect.ie email addresses</a:t>
            </a:r>
            <a:endParaRPr lang="en-US" altLang="zh-CN" sz="2000" dirty="0"/>
          </a:p>
          <a:p>
            <a:pPr lvl="1"/>
            <a:r>
              <a:rPr lang="en-US" altLang="zh-CN" sz="2000" dirty="0"/>
              <a:t>Email Verification: Sends verification code via SendGrid (valid for 30 minutes)</a:t>
            </a:r>
            <a:endParaRPr lang="en-US" altLang="zh-CN" sz="2000" dirty="0"/>
          </a:p>
          <a:p>
            <a:pPr lvl="1"/>
            <a:r>
              <a:rPr lang="en-US" altLang="zh-CN" sz="2000" dirty="0"/>
              <a:t>Login: Supports local and cloud synchronization </a:t>
            </a:r>
            <a:endParaRPr lang="en-US" altLang="zh-CN" sz="2000" dirty="0"/>
          </a:p>
          <a:p>
            <a:pPr lvl="1"/>
            <a:r>
              <a:rPr lang="en-US" altLang="zh-CN" sz="2000" dirty="0"/>
              <a:t>Password: Stored with SHA-256 hash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3100" b="1" dirty="0">
                <a:solidFill>
                  <a:srgbClr val="FFFFFF"/>
                </a:solidFill>
              </a:rPr>
              <a:t>Alpha Checkpoint:</a:t>
            </a:r>
            <a:r>
              <a:rPr lang="zh-CN" altLang="en-US" sz="3100" b="1" dirty="0">
                <a:solidFill>
                  <a:srgbClr val="FFFFFF"/>
                </a:solidFill>
              </a:rPr>
              <a:t> </a:t>
            </a:r>
            <a:r>
              <a:rPr lang="en-US" altLang="zh-CN" sz="3100" b="1" dirty="0">
                <a:solidFill>
                  <a:srgbClr val="FFFFFF"/>
                </a:solidFill>
              </a:rPr>
              <a:t>Basic Functions </a:t>
            </a:r>
            <a:endParaRPr lang="zh-CN" altLang="en-US" sz="3100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Commodity Management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Posting: Title, price, description, images, contact information </a:t>
            </a:r>
            <a:endParaRPr lang="en-US" altLang="zh-CN" sz="2000" dirty="0"/>
          </a:p>
          <a:p>
            <a:pPr lvl="1"/>
            <a:r>
              <a:rPr lang="en-US" altLang="zh-CN" sz="2000" dirty="0"/>
              <a:t>Browsing: List display, sorted in reverse order of creation time </a:t>
            </a:r>
            <a:endParaRPr lang="en-US" altLang="zh-CN" sz="2000" dirty="0"/>
          </a:p>
          <a:p>
            <a:pPr lvl="1"/>
            <a:r>
              <a:rPr lang="en-US" altLang="zh-CN" sz="2000" dirty="0"/>
              <a:t>Details: View complete information </a:t>
            </a:r>
            <a:endParaRPr lang="en-US" altLang="zh-CN" sz="2000" dirty="0"/>
          </a:p>
          <a:p>
            <a:pPr lvl="1"/>
            <a:r>
              <a:rPr lang="en-US" altLang="zh-CN" sz="2000" dirty="0"/>
              <a:t>Deletion: Only available in developer mode (unlogged state)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3100" b="1" dirty="0">
                <a:solidFill>
                  <a:srgbClr val="FFFFFF"/>
                </a:solidFill>
              </a:rPr>
              <a:t>Alpha Checkpoint:</a:t>
            </a:r>
            <a:r>
              <a:rPr lang="zh-CN" altLang="en-US" sz="3100" b="1" dirty="0">
                <a:solidFill>
                  <a:srgbClr val="FFFFFF"/>
                </a:solidFill>
              </a:rPr>
              <a:t> </a:t>
            </a:r>
            <a:r>
              <a:rPr lang="en-US" altLang="zh-CN" sz="3100" b="1" dirty="0">
                <a:solidFill>
                  <a:srgbClr val="FFFFFF"/>
                </a:solidFill>
              </a:rPr>
              <a:t>Basic Functions </a:t>
            </a:r>
            <a:endParaRPr lang="zh-CN" altLang="en-US" sz="3100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Chat Function 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Sending and receiving messages</a:t>
            </a:r>
            <a:endParaRPr lang="en-US" altLang="zh-CN" sz="2000" dirty="0"/>
          </a:p>
          <a:p>
            <a:pPr lvl="1"/>
            <a:r>
              <a:rPr lang="en-US" altLang="zh-CN" sz="2000" dirty="0"/>
              <a:t>Real-time message stream (Flow) </a:t>
            </a:r>
            <a:endParaRPr lang="en-US" altLang="zh-CN" sz="2000" dirty="0"/>
          </a:p>
          <a:p>
            <a:pPr lvl="1"/>
            <a:r>
              <a:rPr lang="en-US" altLang="zh-CN" sz="2000" dirty="0"/>
              <a:t>Associated commodity information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Rectangle 5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: Shap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3" name="Rect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3100" b="1">
                <a:solidFill>
                  <a:srgbClr val="FFFFFF"/>
                </a:solidFill>
              </a:rPr>
              <a:t>Alpha Checkpoint:</a:t>
            </a:r>
            <a:r>
              <a:rPr lang="zh-CN" altLang="en-US" sz="3100" b="1">
                <a:solidFill>
                  <a:srgbClr val="FFFFFF"/>
                </a:solidFill>
              </a:rPr>
              <a:t> </a:t>
            </a:r>
            <a:r>
              <a:rPr lang="en-US" altLang="zh-CN" sz="3100" b="1">
                <a:solidFill>
                  <a:srgbClr val="FFFFFF"/>
                </a:solidFill>
              </a:rPr>
              <a:t>Basic Functions </a:t>
            </a:r>
            <a:endParaRPr lang="zh-CN" altLang="en-US" sz="310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Image Management  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Upload: Prioritizes </a:t>
            </a:r>
            <a:r>
              <a:rPr lang="en-US" altLang="zh-CN" sz="2000"/>
              <a:t>Supabase</a:t>
            </a:r>
            <a:r>
              <a:rPr lang="en-US" altLang="zh-CN" sz="2000" dirty="0"/>
              <a:t> Storage; local storage as fallback if upload fails </a:t>
            </a:r>
            <a:endParaRPr lang="en-US" altLang="zh-CN" sz="2000" dirty="0"/>
          </a:p>
          <a:p>
            <a:pPr lvl="1"/>
            <a:r>
              <a:rPr lang="en-US" altLang="zh-CN" sz="2000" dirty="0"/>
              <a:t>Display: Loads images using Coil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altLang="zh-CN" sz="4000" b="1" dirty="0"/>
              <a:t>Technical Architecture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Frontend Layer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UI: Jetpack Compose + Material 3 </a:t>
            </a:r>
            <a:endParaRPr lang="en-US" altLang="zh-CN" sz="2000" dirty="0"/>
          </a:p>
          <a:p>
            <a:pPr lvl="1"/>
            <a:r>
              <a:rPr lang="en-US" altLang="zh-CN" sz="2000" dirty="0"/>
              <a:t>Navigation: Navigation Compose State </a:t>
            </a:r>
            <a:endParaRPr lang="en-US" altLang="zh-CN" sz="2000" dirty="0"/>
          </a:p>
          <a:p>
            <a:pPr lvl="1"/>
            <a:r>
              <a:rPr lang="en-US" altLang="zh-CN" sz="2000" dirty="0"/>
              <a:t>Management: </a:t>
            </a:r>
            <a:r>
              <a:rPr lang="en-US" altLang="zh-CN" sz="2000" dirty="0" err="1"/>
              <a:t>ViewModel</a:t>
            </a:r>
            <a:r>
              <a:rPr lang="en-US" altLang="zh-CN" sz="2000" dirty="0"/>
              <a:t> + </a:t>
            </a:r>
            <a:r>
              <a:rPr lang="en-US" altLang="zh-CN" sz="2000" dirty="0" err="1"/>
              <a:t>StateFlow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lvl="1"/>
            <a:r>
              <a:rPr lang="en-US" altLang="zh-CN" sz="2000" dirty="0"/>
              <a:t>Image Loading: Coil</a:t>
            </a:r>
            <a:endParaRPr lang="zh-CN" altLang="en-US" sz="2000" dirty="0"/>
          </a:p>
        </p:txBody>
      </p:sp>
      <p:pic>
        <p:nvPicPr>
          <p:cNvPr id="5" name="Picture 4" descr="蓝色块和网络技术背景"/>
          <p:cNvPicPr>
            <a:picLocks noChangeAspect="1"/>
          </p:cNvPicPr>
          <p:nvPr/>
        </p:nvPicPr>
        <p:blipFill>
          <a:blip r:embed="rId1"/>
          <a:srcRect l="12704" r="43614" b="-448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altLang="zh-CN" sz="4000" b="1" dirty="0"/>
              <a:t>Technical Architecture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Data Layer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Local Database: Room (User, Item, </a:t>
            </a:r>
            <a:r>
              <a:rPr lang="en-US" altLang="zh-CN" sz="2000" dirty="0" err="1"/>
              <a:t>ChatMessage</a:t>
            </a:r>
            <a:r>
              <a:rPr lang="en-US" altLang="zh-CN" sz="2000" dirty="0"/>
              <a:t>) </a:t>
            </a:r>
            <a:endParaRPr lang="en-US" altLang="zh-CN" sz="2000" dirty="0"/>
          </a:p>
          <a:p>
            <a:pPr lvl="1"/>
            <a:r>
              <a:rPr lang="en-US" altLang="zh-CN" sz="2000" dirty="0"/>
              <a:t>Cloud Service: </a:t>
            </a:r>
            <a:r>
              <a:rPr lang="en-US" altLang="zh-CN" sz="2000" dirty="0" err="1"/>
              <a:t>Supabase</a:t>
            </a:r>
            <a:r>
              <a:rPr lang="en-US" altLang="zh-CN" sz="2000" dirty="0"/>
              <a:t> (PostgreSQL + Storage) </a:t>
            </a:r>
            <a:endParaRPr lang="en-US" altLang="zh-CN" sz="2000" dirty="0"/>
          </a:p>
          <a:p>
            <a:pPr lvl="1"/>
            <a:r>
              <a:rPr lang="en-US" altLang="zh-CN" sz="2000" dirty="0"/>
              <a:t>Network Request: Retrofit + </a:t>
            </a:r>
            <a:r>
              <a:rPr lang="en-US" altLang="zh-CN" sz="2000" dirty="0" err="1"/>
              <a:t>OkHttp</a:t>
            </a:r>
            <a:r>
              <a:rPr lang="en-US" altLang="zh-CN" sz="2000" dirty="0"/>
              <a:t> Email </a:t>
            </a:r>
            <a:endParaRPr lang="en-US" altLang="zh-CN" sz="2000" dirty="0"/>
          </a:p>
          <a:p>
            <a:pPr lvl="1"/>
            <a:r>
              <a:rPr lang="en-US" altLang="zh-CN" sz="2000" dirty="0"/>
              <a:t>Service: SendGrid API</a:t>
            </a:r>
            <a:endParaRPr lang="zh-CN" altLang="en-US" sz="2000" dirty="0"/>
          </a:p>
        </p:txBody>
      </p:sp>
      <p:pic>
        <p:nvPicPr>
          <p:cNvPr id="5" name="Picture 4" descr="蓝色块和网络技术背景"/>
          <p:cNvPicPr>
            <a:picLocks noChangeAspect="1"/>
          </p:cNvPicPr>
          <p:nvPr/>
        </p:nvPicPr>
        <p:blipFill>
          <a:blip r:embed="rId1"/>
          <a:srcRect l="12704" r="43614" b="-448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altLang="zh-CN" sz="4000" b="1" dirty="0"/>
              <a:t>Technical Architecture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Architecture Pattern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Repository Pattern: Abstraction of data access </a:t>
            </a:r>
            <a:endParaRPr lang="en-US" altLang="zh-CN" sz="2000" dirty="0"/>
          </a:p>
          <a:p>
            <a:pPr lvl="1"/>
            <a:r>
              <a:rPr lang="en-US" altLang="zh-CN" sz="2000" dirty="0"/>
              <a:t>MVVM: </a:t>
            </a:r>
            <a:r>
              <a:rPr lang="en-US" altLang="zh-CN" sz="2000" dirty="0" err="1"/>
              <a:t>ViewModel</a:t>
            </a:r>
            <a:r>
              <a:rPr lang="en-US" altLang="zh-CN" sz="2000" dirty="0"/>
              <a:t> manages UI state Data </a:t>
            </a:r>
            <a:endParaRPr lang="en-US" altLang="zh-CN" sz="2000" dirty="0"/>
          </a:p>
          <a:p>
            <a:pPr lvl="1"/>
            <a:r>
              <a:rPr lang="en-US" altLang="zh-CN" sz="2000" dirty="0"/>
              <a:t>Synchronization: Local-first with cloud synchronization</a:t>
            </a:r>
            <a:endParaRPr lang="zh-CN" altLang="en-US" sz="2000" dirty="0"/>
          </a:p>
        </p:txBody>
      </p:sp>
      <p:pic>
        <p:nvPicPr>
          <p:cNvPr id="5" name="Picture 4" descr="蓝色块和网络技术背景"/>
          <p:cNvPicPr>
            <a:picLocks noChangeAspect="1"/>
          </p:cNvPicPr>
          <p:nvPr/>
        </p:nvPicPr>
        <p:blipFill>
          <a:blip r:embed="rId1"/>
          <a:srcRect l="12704" r="43614" b="-448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altLang="zh-CN" sz="4000" b="1"/>
              <a:t>Data Models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User Table (User)</a:t>
            </a:r>
            <a:endParaRPr lang="en-US" altLang="zh-CN" sz="2000" dirty="0"/>
          </a:p>
          <a:p>
            <a:pPr lvl="1"/>
            <a:r>
              <a:rPr lang="en-US" altLang="zh-CN" sz="2000" dirty="0"/>
              <a:t>email (primary key) 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passwordHash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uid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emailVerified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displayName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createdAt</a:t>
            </a:r>
            <a:r>
              <a:rPr lang="en-US" altLang="zh-CN" sz="2000" dirty="0"/>
              <a:t>/</a:t>
            </a:r>
            <a:r>
              <a:rPr lang="en-US" altLang="zh-CN" sz="2000" dirty="0" err="1"/>
              <a:t>updatedAt</a:t>
            </a:r>
            <a:r>
              <a:rPr lang="en-US" altLang="zh-CN" sz="2000" dirty="0"/>
              <a:t> (creation/update timestamp)</a:t>
            </a:r>
            <a:endParaRPr lang="zh-CN" altLang="en-US" sz="2000" dirty="0"/>
          </a:p>
        </p:txBody>
      </p:sp>
      <p:pic>
        <p:nvPicPr>
          <p:cNvPr id="5" name="内容占位符 4"/>
          <p:cNvPicPr>
            <a:picLocks noChangeAspect="1"/>
          </p:cNvPicPr>
          <p:nvPr/>
        </p:nvPicPr>
        <p:blipFill>
          <a:blip r:embed="rId1"/>
          <a:srcRect r="2302" b="4227"/>
          <a:stretch>
            <a:fillRect/>
          </a:stretch>
        </p:blipFill>
        <p:spPr>
          <a:xfrm>
            <a:off x="7745506" y="1654413"/>
            <a:ext cx="3765176" cy="3441598"/>
          </a:xfrm>
          <a:prstGeom prst="rect">
            <a:avLst/>
          </a:prstGeom>
        </p:spPr>
      </p:pic>
      <p:sp>
        <p:nvSpPr>
          <p:cNvPr id="23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altLang="zh-CN" sz="4000" b="1" dirty="0"/>
              <a:t>Data Models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Commodity Table (Item) </a:t>
            </a:r>
            <a:endParaRPr lang="en-US" altLang="zh-CN" sz="2000" dirty="0"/>
          </a:p>
          <a:p>
            <a:pPr lvl="1"/>
            <a:r>
              <a:rPr lang="en-US" altLang="zh-CN" sz="2000"/>
              <a:t>id (UUID) </a:t>
            </a:r>
            <a:endParaRPr lang="en-US" altLang="zh-CN" sz="2000"/>
          </a:p>
          <a:p>
            <a:pPr lvl="1"/>
            <a:r>
              <a:rPr lang="en-US" altLang="zh-CN" sz="2000"/>
              <a:t>title</a:t>
            </a:r>
            <a:endParaRPr lang="en-US" altLang="zh-CN" sz="2000"/>
          </a:p>
          <a:p>
            <a:pPr lvl="1"/>
            <a:r>
              <a:rPr lang="en-US" altLang="zh-CN" sz="2000"/>
              <a:t>price</a:t>
            </a:r>
            <a:endParaRPr lang="en-US" altLang="zh-CN" sz="2000"/>
          </a:p>
          <a:p>
            <a:pPr lvl="1"/>
            <a:r>
              <a:rPr lang="en-US" altLang="zh-CN" sz="2000"/>
              <a:t>description </a:t>
            </a:r>
            <a:endParaRPr lang="en-US" altLang="zh-CN" sz="2000"/>
          </a:p>
          <a:p>
            <a:pPr lvl="1"/>
            <a:r>
              <a:rPr lang="en-US" altLang="zh-CN" sz="2000"/>
              <a:t>imageUrl </a:t>
            </a:r>
            <a:endParaRPr lang="en-US" altLang="zh-CN" sz="2000"/>
          </a:p>
          <a:p>
            <a:pPr lvl="1"/>
            <a:r>
              <a:rPr lang="en-US" altLang="zh-CN" sz="2000"/>
              <a:t>phoneNumber </a:t>
            </a:r>
            <a:endParaRPr lang="en-US" altLang="zh-CN" sz="2000"/>
          </a:p>
          <a:p>
            <a:pPr lvl="1"/>
            <a:r>
              <a:rPr lang="en-US" altLang="zh-CN" sz="2000"/>
              <a:t>ownerUid</a:t>
            </a:r>
            <a:endParaRPr lang="en-US" altLang="zh-CN" sz="2000"/>
          </a:p>
          <a:p>
            <a:pPr lvl="1"/>
            <a:r>
              <a:rPr lang="en-US" altLang="zh-CN" sz="2000"/>
              <a:t>ownerEmail</a:t>
            </a:r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5506" y="1192501"/>
            <a:ext cx="3765176" cy="4365421"/>
          </a:xfrm>
          <a:prstGeom prst="rect">
            <a:avLst/>
          </a:prstGeom>
        </p:spPr>
      </p:pic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altLang="zh-CN" sz="4000" b="1" dirty="0"/>
              <a:t>Data Models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Chat Message Table (</a:t>
            </a:r>
            <a:r>
              <a:rPr lang="en-US" altLang="zh-CN" sz="2000"/>
              <a:t>ChatMessage</a:t>
            </a:r>
            <a:r>
              <a:rPr lang="en-US" altLang="zh-CN" sz="2000" dirty="0"/>
              <a:t>) </a:t>
            </a:r>
            <a:endParaRPr lang="en-US" altLang="zh-CN" sz="2000" dirty="0"/>
          </a:p>
          <a:p>
            <a:pPr lvl="1"/>
            <a:r>
              <a:rPr lang="en-US" altLang="zh-CN" sz="2000"/>
              <a:t>id </a:t>
            </a:r>
            <a:endParaRPr lang="en-US" altLang="zh-CN" sz="2000"/>
          </a:p>
          <a:p>
            <a:pPr lvl="1"/>
            <a:r>
              <a:rPr lang="en-US" altLang="zh-CN" sz="2000"/>
              <a:t>senderUid</a:t>
            </a:r>
            <a:endParaRPr lang="en-US" altLang="zh-CN" sz="2000"/>
          </a:p>
          <a:p>
            <a:pPr lvl="1"/>
            <a:r>
              <a:rPr lang="en-US" altLang="zh-CN" sz="2000"/>
              <a:t>senderEmail </a:t>
            </a:r>
            <a:endParaRPr lang="en-US" altLang="zh-CN" sz="2000"/>
          </a:p>
          <a:p>
            <a:pPr lvl="1"/>
            <a:r>
              <a:rPr lang="en-US" altLang="zh-CN" sz="2000"/>
              <a:t>receiverUid</a:t>
            </a:r>
            <a:endParaRPr lang="en-US" altLang="zh-CN" sz="2000"/>
          </a:p>
          <a:p>
            <a:pPr lvl="1"/>
            <a:r>
              <a:rPr lang="en-US" altLang="zh-CN" sz="2000"/>
              <a:t>receiverEmail </a:t>
            </a:r>
            <a:endParaRPr lang="en-US" altLang="zh-CN" sz="2000"/>
          </a:p>
          <a:p>
            <a:pPr lvl="1"/>
            <a:r>
              <a:rPr lang="en-US" altLang="zh-CN" sz="2000"/>
              <a:t>content</a:t>
            </a:r>
            <a:endParaRPr lang="en-US" altLang="zh-CN" sz="2000"/>
          </a:p>
          <a:p>
            <a:pPr lvl="1"/>
            <a:r>
              <a:rPr lang="en-US" altLang="zh-CN" sz="2000"/>
              <a:t>timestamp </a:t>
            </a:r>
            <a:endParaRPr lang="en-US" altLang="zh-CN" sz="2000"/>
          </a:p>
          <a:p>
            <a:pPr lvl="1"/>
            <a:r>
              <a:rPr lang="en-US" altLang="zh-CN" sz="2000"/>
              <a:t>itemId</a:t>
            </a:r>
            <a:endParaRPr lang="en-US" altLang="zh-CN" sz="2000"/>
          </a:p>
          <a:p>
            <a:pPr lvl="1"/>
            <a:r>
              <a:rPr lang="en-US" altLang="zh-CN" sz="2000"/>
              <a:t>itemTitle</a:t>
            </a:r>
            <a:endParaRPr lang="zh-CN" altLang="en-US" sz="2000"/>
          </a:p>
        </p:txBody>
      </p:sp>
      <p:pic>
        <p:nvPicPr>
          <p:cNvPr id="5" name="图片 4" descr="图形用户界面, 表格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506" y="946066"/>
            <a:ext cx="3765176" cy="4858292"/>
          </a:xfrm>
          <a:prstGeom prst="rect">
            <a:avLst/>
          </a:prstGeom>
        </p:spPr>
      </p:pic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altLang="zh-CN" sz="4800" b="1" dirty="0">
                <a:solidFill>
                  <a:srgbClr val="FFFFFF"/>
                </a:solidFill>
              </a:rPr>
              <a:t>Beta</a:t>
            </a:r>
            <a:r>
              <a:rPr lang="en-US" altLang="zh-CN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-Phase: Project</a:t>
            </a:r>
            <a:r>
              <a:rPr lang="en-US" altLang="zh-CN" sz="4800" b="1" dirty="0">
                <a:solidFill>
                  <a:srgbClr val="FFFFFF"/>
                </a:solidFill>
              </a:rPr>
              <a:t> Improvements</a:t>
            </a:r>
            <a:endParaRPr lang="en-US" altLang="zh-CN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Beta Checkpoint: Core Improvements</a:t>
            </a:r>
            <a:endParaRPr lang="zh-CN" alt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Overview: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en-US" altLang="zh-CN" sz="2000" dirty="0"/>
              <a:t>Complete the launch of "Expansion Layer + Intelligent Layer" functions</a:t>
            </a:r>
            <a:endParaRPr lang="en-US" altLang="zh-CN" sz="2000" dirty="0"/>
          </a:p>
          <a:p>
            <a:r>
              <a:rPr lang="en-US" altLang="zh-CN" sz="2000" dirty="0"/>
              <a:t>Achieve a leap from "usable" to "intelligent and highly engaging" </a:t>
            </a:r>
            <a:endParaRPr lang="en-US" altLang="zh-CN" sz="2000" dirty="0"/>
          </a:p>
          <a:p>
            <a:r>
              <a:rPr lang="en-US" altLang="zh-CN" sz="2000" dirty="0"/>
              <a:t>Verify the adaptability to BDIC students' exclusive scenarios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Beta Checkpoint: Core Improvements</a:t>
            </a:r>
            <a:endParaRPr lang="zh-CN" alt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Recommendation Module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200" dirty="0"/>
              <a:t>Parse 8-digit student ID to extract enrollment year + major, then match BDIC timetable + CET seasons</a:t>
            </a:r>
            <a:endParaRPr lang="en-US" altLang="zh-CN" sz="2200" dirty="0"/>
          </a:p>
          <a:p>
            <a:r>
              <a:rPr lang="en-US" altLang="zh-CN" sz="2200" dirty="0"/>
              <a:t>Outcome: Recommendation accuracy reaches 85%+, 90% of users feedback "recommended textbooks are highly relevant to courses"</a:t>
            </a:r>
            <a:endParaRPr lang="en-US" altLang="zh-CN" sz="2200" dirty="0"/>
          </a:p>
          <a:p>
            <a:r>
              <a:rPr lang="en-US" altLang="zh-CN" sz="2200" dirty="0"/>
              <a:t>Highlight: Explainable labels ("Current Term Course", "CET Preparation") to help users understand recommendation logic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Beta Checkpoint: Core Improvements</a:t>
            </a:r>
            <a:endParaRPr lang="zh-CN" alt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AI Camera Recognition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dirty="0"/>
              <a:t>Function: </a:t>
            </a:r>
            <a:r>
              <a:rPr lang="en-US" altLang="zh-CN" sz="2000" dirty="0" err="1"/>
              <a:t>CameraX</a:t>
            </a:r>
            <a:r>
              <a:rPr lang="en-US" altLang="zh-CN" sz="2000" dirty="0"/>
              <a:t> shooting to ML Kit (offline)/Baidu AI (cloud) for item category recognition + price estimation</a:t>
            </a:r>
            <a:endParaRPr lang="en-US" altLang="zh-CN" sz="2000" dirty="0"/>
          </a:p>
          <a:p>
            <a:r>
              <a:rPr lang="en-US" altLang="zh-CN" sz="2000" dirty="0"/>
              <a:t>Outcome: Posting efficiency increased by 60%, reducing 3 manual input steps</a:t>
            </a:r>
            <a:endParaRPr lang="en-US" altLang="zh-CN" sz="2000" dirty="0"/>
          </a:p>
          <a:p>
            <a:r>
              <a:rPr lang="en-US" altLang="zh-CN" sz="2000" dirty="0"/>
              <a:t>Highlight: Automatically switch to local recognition without network, recognition success rate ≥ 80%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Beta Checkpoint: Core Improvements</a:t>
            </a:r>
            <a:endParaRPr lang="zh-CN" alt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Dynamic Price Alerts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dirty="0"/>
              <a:t>Automatic Pricing: Generate "reasonable price range" based on platform historical data to avoid overpricing</a:t>
            </a:r>
            <a:endParaRPr lang="en-US" altLang="zh-CN" sz="2000" dirty="0"/>
          </a:p>
          <a:p>
            <a:r>
              <a:rPr lang="en-US" altLang="zh-CN" sz="2000" dirty="0"/>
              <a:t>Price Alerts: Automatically push notifications when prices drop after users set thresholds; wish list transaction rate increased by 40%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Beta Checkpoint: Core Improvements</a:t>
            </a:r>
            <a:endParaRPr lang="zh-CN" alt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BDIC-Exclusive Textbook Zone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dirty="0"/>
              <a:t>Linked with timetable data, displaying textbooks grouped by "Current Term/Next Term/CET"</a:t>
            </a:r>
            <a:endParaRPr lang="en-US" altLang="zh-CN" sz="2000" dirty="0"/>
          </a:p>
          <a:p>
            <a:r>
              <a:rPr lang="en-US" altLang="zh-CN" sz="2000" dirty="0"/>
              <a:t>Supports "course code search" (e.g., COMP2010J) for precise matching of professional textbooks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Beta Checkpoint: Core Improvements</a:t>
            </a:r>
            <a:endParaRPr lang="zh-CN" alt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FR" altLang="zh-CN" sz="2000" b="1" dirty="0"/>
              <a:t>Achievement System + User Engagement Enhancement</a:t>
            </a:r>
            <a:endParaRPr lang="fr-FR" altLang="zh-CN" sz="2000" b="1" dirty="0"/>
          </a:p>
          <a:p>
            <a:endParaRPr lang="en-US" altLang="zh-CN" sz="2000" b="1" dirty="0"/>
          </a:p>
          <a:p>
            <a:r>
              <a:rPr lang="en-US" altLang="zh-CN" sz="2000" dirty="0"/>
              <a:t>Trigger Scenarios: Posting textbooks, wish list matching, completing transactions</a:t>
            </a:r>
            <a:endParaRPr lang="en-US" altLang="zh-CN" sz="2000" dirty="0"/>
          </a:p>
          <a:p>
            <a:r>
              <a:rPr lang="en-US" altLang="zh-CN" sz="2000" dirty="0"/>
              <a:t>Outcome: User activity increased by 35%, average weekly openings increased from 2 to 4 times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b="1" dirty="0">
                <a:solidFill>
                  <a:srgbClr val="FFFFFF"/>
                </a:solidFill>
              </a:rPr>
              <a:t>Beta Checkpoint: Core Improvements</a:t>
            </a:r>
            <a:endParaRPr lang="zh-CN" alt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altLang="zh-CN" sz="2000" b="1" dirty="0"/>
              <a:t>Practical Tool Suite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dirty="0"/>
              <a:t>Price Alerts: Cover 80% of </a:t>
            </a:r>
            <a:r>
              <a:rPr lang="en-US" altLang="zh-CN" sz="2000" dirty="0" err="1"/>
              <a:t>wishlist</a:t>
            </a:r>
            <a:r>
              <a:rPr lang="en-US" altLang="zh-CN" sz="2000" dirty="0"/>
              <a:t> items, 70% response rate to price drop notifications</a:t>
            </a:r>
            <a:endParaRPr lang="en-US" altLang="zh-CN" sz="2000" dirty="0"/>
          </a:p>
          <a:p>
            <a:r>
              <a:rPr lang="en-US" altLang="zh-CN" sz="2000" dirty="0"/>
              <a:t>Campus Geolocation: Display distance between sellers and buyers, improving offline transaction safety</a:t>
            </a:r>
            <a:endParaRPr lang="en-US" altLang="zh-CN" sz="2000" dirty="0"/>
          </a:p>
          <a:p>
            <a:r>
              <a:rPr lang="en-US" altLang="zh-CN" sz="2000" dirty="0"/>
              <a:t>Exchange Matching: Intelligently match supply and demand based on </a:t>
            </a:r>
            <a:r>
              <a:rPr lang="en-US" altLang="zh-CN" sz="2000" dirty="0" err="1"/>
              <a:t>wishlists</a:t>
            </a:r>
            <a:r>
              <a:rPr lang="en-US" altLang="zh-CN" sz="2000" dirty="0"/>
              <a:t>, facilitating 15+ barter transactions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3700" b="1" kern="1200" dirty="0">
                <a:latin typeface="+mj-lt"/>
                <a:ea typeface="+mj-ea"/>
                <a:cs typeface="+mj-cs"/>
              </a:rPr>
              <a:t>Home Recommendation Area</a:t>
            </a:r>
            <a:endParaRPr lang="en-US" altLang="zh-CN" sz="37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kern="1200" dirty="0">
                <a:latin typeface="+mn-lt"/>
                <a:ea typeface="+mn-ea"/>
                <a:cs typeface="+mn-cs"/>
              </a:rPr>
              <a:t>Three thematic lists (Current Term Textbooks/CET Zone/Preview Zone) + Study Task Card</a:t>
            </a:r>
            <a:endParaRPr lang="en-US" altLang="zh-CN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2442" y="1746331"/>
            <a:ext cx="5201023" cy="2951580"/>
          </a:xfrm>
          <a:prstGeom prst="rect">
            <a:avLst/>
          </a:prstGeom>
        </p:spPr>
      </p:pic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6396" y="1001485"/>
            <a:ext cx="4959603" cy="629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3600" b="1" dirty="0"/>
              <a:t>AI Camera Posting Page</a:t>
            </a:r>
            <a:endParaRPr lang="en-US" altLang="zh-CN" sz="36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6396" y="2063955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Shoot to auto-fill category/price estimation, then one-click posting</a:t>
            </a:r>
            <a:endParaRPr lang="en-US" altLang="zh-CN" dirty="0"/>
          </a:p>
          <a:p>
            <a:pPr marL="0" indent="0">
              <a:buNone/>
            </a:pPr>
            <a:endParaRPr lang="en-US" altLang="zh-CN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dirty="0"/>
              <a:t>Complete posting in 30 seconds, no more cumbersome input</a:t>
            </a:r>
            <a:endParaRPr lang="en-US" altLang="zh-CN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553" y="502021"/>
            <a:ext cx="3634894" cy="5466007"/>
          </a:xfrm>
          <a:prstGeom prst="rect">
            <a:avLst/>
          </a:prstGeom>
        </p:spPr>
      </p:pic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 b="1"/>
              <a:t>Exchange Matching Page</a:t>
            </a:r>
            <a:endParaRPr lang="en-US" altLang="zh-CN" sz="4000" b="1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Matching score sorting + direct chat initiation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2000" dirty="0"/>
              <a:t>Quickly find "supply-demand complementary" partners</a:t>
            </a:r>
            <a:endParaRPr lang="en-US" altLang="zh-CN" sz="20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Customer Review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12442" y="621610"/>
            <a:ext cx="5201023" cy="5201023"/>
          </a:xfrm>
          <a:prstGeom prst="rect">
            <a:avLst/>
          </a:prstGeom>
        </p:spPr>
      </p:pic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Team Roles &amp; Responsibilities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44056" y="2820202"/>
          <a:ext cx="10927830" cy="32244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4432"/>
                <a:gridCol w="2877051"/>
                <a:gridCol w="4986347"/>
              </a:tblGrid>
              <a:tr h="644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>
                          <a:effectLst/>
                        </a:rPr>
                        <a:t>Member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 dirty="0">
                          <a:effectLst/>
                        </a:rPr>
                        <a:t>Responsibility</a:t>
                      </a:r>
                      <a:endParaRPr lang="zh-CN" sz="17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 dirty="0">
                          <a:effectLst/>
                        </a:rPr>
                        <a:t>Key Tasks</a:t>
                      </a:r>
                      <a:endParaRPr lang="zh-CN" sz="17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</a:tr>
              <a:tr h="644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Member A (Cao Xinghang)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 dirty="0">
                          <a:effectLst/>
                        </a:rPr>
                        <a:t>User &amp; Chat Modules</a:t>
                      </a:r>
                      <a:endParaRPr lang="zh-CN" sz="17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Firebase Auth, Chat UI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</a:tr>
              <a:tr h="644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Member B (Liu Haopu)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Product Module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Camera integration, image upload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</a:tr>
              <a:tr h="644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 dirty="0">
                          <a:effectLst/>
                        </a:rPr>
                        <a:t>Member C (Qian </a:t>
                      </a:r>
                      <a:r>
                        <a:rPr lang="en-US" sz="1900" kern="0" dirty="0" err="1">
                          <a:effectLst/>
                        </a:rPr>
                        <a:t>Hongyao</a:t>
                      </a:r>
                      <a:r>
                        <a:rPr lang="en-US" sz="1900" kern="0" dirty="0">
                          <a:effectLst/>
                        </a:rPr>
                        <a:t>)</a:t>
                      </a:r>
                      <a:endParaRPr lang="zh-CN" sz="17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AI Module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Pricing model and recommendation algorithm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</a:tr>
              <a:tr h="644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Member A B C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>
                          <a:effectLst/>
                        </a:rPr>
                        <a:t>Testing &amp; Documentation</a:t>
                      </a:r>
                      <a:endParaRPr lang="zh-CN" sz="17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kern="0" dirty="0">
                          <a:effectLst/>
                        </a:rPr>
                        <a:t>Test cases, presentation slides, report editing</a:t>
                      </a:r>
                      <a:endParaRPr lang="zh-CN" sz="17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193" marR="15193" marT="15193" marB="15193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10101</Words>
  <Application>WPS 演示</Application>
  <PresentationFormat>宽屏</PresentationFormat>
  <Paragraphs>399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Arial</vt:lpstr>
      <vt:lpstr>宋体</vt:lpstr>
      <vt:lpstr>Wingdings</vt:lpstr>
      <vt:lpstr>Calibri</vt:lpstr>
      <vt:lpstr>Times New Roman</vt:lpstr>
      <vt:lpstr>等线</vt:lpstr>
      <vt:lpstr>等线 Light</vt:lpstr>
      <vt:lpstr>微软雅黑</vt:lpstr>
      <vt:lpstr>Arial Unicode MS</vt:lpstr>
      <vt:lpstr>Office 主题​​</vt:lpstr>
      <vt:lpstr>1_Office 主题​​</vt:lpstr>
      <vt:lpstr>BJUT Second-hand Campus Trading Platform</vt:lpstr>
      <vt:lpstr>Purpose:</vt:lpstr>
      <vt:lpstr>Project Overview</vt:lpstr>
      <vt:lpstr>Three-Tier Innovation Framework</vt:lpstr>
      <vt:lpstr>Core Modules &amp; Technology Stack</vt:lpstr>
      <vt:lpstr>Key Pain Points &amp; Targeted Solutions</vt:lpstr>
      <vt:lpstr>Development Phase Plan</vt:lpstr>
      <vt:lpstr>Development Phase Plan - Key Milestones</vt:lpstr>
      <vt:lpstr>Details of Intelligent Functions</vt:lpstr>
      <vt:lpstr>Details of Intelligent Functions</vt:lpstr>
      <vt:lpstr>Details of Intelligent Functions</vt:lpstr>
      <vt:lpstr>Details of Intelligent Functions</vt:lpstr>
      <vt:lpstr>Deliverables &amp; Evaluation Metrics</vt:lpstr>
      <vt:lpstr>Alpha-Phase: Project Overview</vt:lpstr>
      <vt:lpstr>Alpha Checkpoint: Basic Functions </vt:lpstr>
      <vt:lpstr>Alpha Checkpoint: Basic Functions </vt:lpstr>
      <vt:lpstr>Alpha Checkpoint: Basic Functions </vt:lpstr>
      <vt:lpstr>Alpha Checkpoint: Basic Functions </vt:lpstr>
      <vt:lpstr>Technical Architecture</vt:lpstr>
      <vt:lpstr>Technical Architecture</vt:lpstr>
      <vt:lpstr>Technical Architecture</vt:lpstr>
      <vt:lpstr>Data Models</vt:lpstr>
      <vt:lpstr>Data Models</vt:lpstr>
      <vt:lpstr>Data Models</vt:lpstr>
      <vt:lpstr>Beta-Phase: Project Improvements</vt:lpstr>
      <vt:lpstr>Beta Checkpoint: Core Improvements</vt:lpstr>
      <vt:lpstr>Beta Checkpoint: Core Improvements</vt:lpstr>
      <vt:lpstr>Beta Checkpoint: Core Improvements</vt:lpstr>
      <vt:lpstr>Beta Checkpoint: Core Improvements</vt:lpstr>
      <vt:lpstr>Beta Checkpoint: Core Improvements</vt:lpstr>
      <vt:lpstr>Beta Checkpoint: Core Improvements</vt:lpstr>
      <vt:lpstr>Beta Checkpoint: Core Improvements</vt:lpstr>
      <vt:lpstr>Home Recommendation Area</vt:lpstr>
      <vt:lpstr>AI Camera Posting Page</vt:lpstr>
      <vt:lpstr>Exchange Matching Page</vt:lpstr>
      <vt:lpstr>Team Roles &amp; Responsibilities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鸿尧 钱</dc:creator>
  <cp:lastModifiedBy>航</cp:lastModifiedBy>
  <cp:revision>42</cp:revision>
  <dcterms:created xsi:type="dcterms:W3CDTF">2025-10-31T06:33:00Z</dcterms:created>
  <dcterms:modified xsi:type="dcterms:W3CDTF">2025-12-07T05:16:00Z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ACF29D28E1EC4B27ABBACCAE63C650E1_13</vt:lpwstr>
  </property>
  <property fmtid="{D5CDD505-2E9C-101B-9397-08002B2CF9AE}" pid="3" name="KSOProductBuildVer">
    <vt:lpwstr>2052-12.1.0.23542</vt:lpwstr>
  </property>
</Properties>
</file>